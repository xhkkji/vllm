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7"/>
  </p:handoutMasterIdLst>
  <p:sldIdLst>
    <p:sldId id="298" r:id="rId4"/>
    <p:sldId id="257" r:id="rId6"/>
    <p:sldId id="339" r:id="rId33"/>
    <p:sldId id="258" r:id="rId7"/>
    <p:sldId id="299" r:id="rId8"/>
    <p:sldId id="322" r:id="rId9"/>
    <p:sldId id="261" r:id="rId10"/>
    <p:sldId id="324" r:id="rId11"/>
    <p:sldId id="325" r:id="rId12"/>
    <p:sldId id="328" r:id="rId13"/>
    <p:sldId id="338" r:id="rId14"/>
    <p:sldId id="327" r:id="rId15"/>
    <p:sldId id="330" r:id="rId16"/>
    <p:sldId id="262" r:id="rId17"/>
    <p:sldId id="304" r:id="rId18"/>
    <p:sldId id="263" r:id="rId19"/>
    <p:sldId id="307" r:id="rId20"/>
    <p:sldId id="311" r:id="rId21"/>
    <p:sldId id="335" r:id="rId22"/>
    <p:sldId id="321" r:id="rId23"/>
    <p:sldId id="267" r:id="rId24"/>
    <p:sldId id="268" r:id="rId25"/>
    <p:sldId id="269" r:id="rId26"/>
  </p:sldIdLst>
  <p:sldSz cx="12192000" cy="6858000"/>
  <p:notesSz cx="6858000" cy="9144000"/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10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鲸 歌" initials="鲸" lastIdx="0" clrIdx="0"/>
  <p:cmAuthor id="2" name="Archer9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10"/>
        <p:guide pos="284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commentAuthors" Target="commentAuthors.xml"/><Relationship Id="rId32" Type="http://schemas.openxmlformats.org/officeDocument/2006/relationships/tags" Target="tags/tag78.xml"/><Relationship Id="rId33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Decode I/O时间(ms)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HBM完整驻留</c:v>
                </c:pt>
                <c:pt idx="1">
                  <c:v>SSD写回后恢复</c:v>
                </c:pt>
                <c:pt idx="2">
                  <c:v>单请求超过GPU KV容量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4.757</c:v>
                </c:pt>
                <c:pt idx="1">
                  <c:v>60.402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0"/>
        <c:axId val="565779132"/>
        <c:axId val="242973665"/>
      </c:barChart>
      <c:catAx>
        <c:axId val="5657791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2973665"/>
        <c:crosses val="autoZero"/>
        <c:auto val="1"/>
        <c:lblAlgn val="ctr"/>
        <c:lblOffset val="100"/>
        <c:noMultiLvlLbl val="0"/>
      </c:catAx>
      <c:valAx>
        <c:axId val="24297366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657791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8872627-6337-4310-bd1e-6468d7a8d6f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4KB</c:v>
                </c:pt>
                <c:pt idx="1">
                  <c:v>8KB</c:v>
                </c:pt>
                <c:pt idx="2">
                  <c:v>16KB</c:v>
                </c:pt>
                <c:pt idx="3">
                  <c:v>32KB</c:v>
                </c:pt>
                <c:pt idx="4">
                  <c:v>64KB</c:v>
                </c:pt>
                <c:pt idx="5">
                  <c:v>128KB</c:v>
                </c:pt>
                <c:pt idx="6">
                  <c:v>256KB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0.24</c:v>
                </c:pt>
                <c:pt idx="1">
                  <c:v>0.45</c:v>
                </c:pt>
                <c:pt idx="2">
                  <c:v>0.72</c:v>
                </c:pt>
                <c:pt idx="3">
                  <c:v>0.95</c:v>
                </c:pt>
                <c:pt idx="4">
                  <c:v>0.98</c:v>
                </c:pt>
                <c:pt idx="5">
                  <c:v>0.98</c:v>
                </c:pt>
                <c:pt idx="6">
                  <c:v>0.98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4KB</c:v>
                </c:pt>
                <c:pt idx="1">
                  <c:v>8KB</c:v>
                </c:pt>
                <c:pt idx="2">
                  <c:v>16KB</c:v>
                </c:pt>
                <c:pt idx="3">
                  <c:v>32KB</c:v>
                </c:pt>
                <c:pt idx="4">
                  <c:v>64KB</c:v>
                </c:pt>
                <c:pt idx="5">
                  <c:v>128KB</c:v>
                </c:pt>
                <c:pt idx="6">
                  <c:v>256KB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0.99</c:v>
                </c:pt>
                <c:pt idx="1">
                  <c:v>0.99</c:v>
                </c:pt>
                <c:pt idx="2">
                  <c:v>0.99</c:v>
                </c:pt>
                <c:pt idx="3">
                  <c:v>0.99</c:v>
                </c:pt>
                <c:pt idx="4">
                  <c:v>0.99</c:v>
                </c:pt>
                <c:pt idx="5">
                  <c:v>0.99</c:v>
                </c:pt>
                <c:pt idx="6">
                  <c:v>0.99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5222197"/>
        <c:axId val="406770833"/>
      </c:lineChart>
      <c:catAx>
        <c:axId val="33522219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770833"/>
        <c:crosses val="autoZero"/>
        <c:auto val="1"/>
        <c:lblAlgn val="ctr"/>
        <c:lblOffset val="100"/>
        <c:noMultiLvlLbl val="0"/>
      </c:catAx>
      <c:valAx>
        <c:axId val="40677083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522219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0dde084-2252-4229-a631-fbc6db1fd8a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细粒度 KV Restore 场景下 BaM </a:t>
            </a:r>
            <a:r>
              <a:rPr lang="en-US" altLang="zh-CN"/>
              <a:t>style IO </a:t>
            </a:r>
            <a:r>
              <a:t>与 LMCache 有效带宽对比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有效带宽(GiB/s)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LMCache 512token</c:v>
                </c:pt>
                <c:pt idx="1">
                  <c:v>BaM 512token</c:v>
                </c:pt>
                <c:pt idx="2">
                  <c:v>LMCache 2048token</c:v>
                </c:pt>
                <c:pt idx="3">
                  <c:v>BaM 2048token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3.71</c:v>
                </c:pt>
                <c:pt idx="1">
                  <c:v>4.41</c:v>
                </c:pt>
                <c:pt idx="2">
                  <c:v>3.96</c:v>
                </c:pt>
                <c:pt idx="3">
                  <c:v>6.01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100"/>
        <c:axId val="317383387"/>
        <c:axId val="654978098"/>
      </c:barChart>
      <c:catAx>
        <c:axId val="31738338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4978098"/>
        <c:crosses val="autoZero"/>
        <c:auto val="1"/>
        <c:lblAlgn val="ctr"/>
        <c:lblOffset val="100"/>
        <c:noMultiLvlLbl val="0"/>
      </c:catAx>
      <c:valAx>
        <c:axId val="65497809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73833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3dcbae1-73be-4c63-836d-5459fc1a13d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稀疏注意力部分</a:t>
            </a:r>
            <a:r>
              <a:rPr lang="en-US" altLang="zh-CN"/>
              <a:t>KV Restore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Physical restore p50(ms)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dense 48</c:v>
                </c:pt>
                <c:pt idx="1">
                  <c:v>tail_n=1</c:v>
                </c:pt>
                <c:pt idx="2">
                  <c:v>tail_n=5</c:v>
                </c:pt>
                <c:pt idx="3">
                  <c:v>tail_n=10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14.72</c:v>
                </c:pt>
                <c:pt idx="1">
                  <c:v>7.38</c:v>
                </c:pt>
                <c:pt idx="2">
                  <c:v>7.48</c:v>
                </c:pt>
                <c:pt idx="3">
                  <c:v>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618904761"/>
        <c:axId val="117456194"/>
      </c:barChart>
      <c:catAx>
        <c:axId val="61890476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7456194"/>
        <c:crosses val="autoZero"/>
        <c:auto val="1"/>
        <c:lblAlgn val="ctr"/>
        <c:lblOffset val="100"/>
        <c:noMultiLvlLbl val="0"/>
      </c:catAx>
      <c:valAx>
        <c:axId val="11745619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89047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5db7c75-1e09-46dc-9b1c-a8b13b0c549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各位老师好，我是夏寒柯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首先是研究背景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目前的大模型推理中，随着上下文变长，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KV Cache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会快速膨胀，单靠 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GPU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显存和 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CPU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内存都放不下，最后下沉到 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SSD 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作为扩展层成为了一种新的思路。</a:t>
            </a:r>
            <a:endParaRPr lang="zh-CN" alt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而选择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ssd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作为常驻</a:t>
            </a:r>
            <a:r>
              <a:rPr lang="en-US" altLang="zh-CN" sz="1200" b="0" i="0" u="none" strike="noStrike">
                <a:solidFill>
                  <a:srgbClr val="000000"/>
                </a:solidFill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</a:rPr>
              <a:t>存储端的原因是（左图三个点）</a:t>
            </a:r>
            <a:endParaRPr lang="zh-CN" alt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</a:rPr>
              <a:t>但带来的新问题就是（右图三点）</a:t>
            </a:r>
            <a:endParaRPr lang="zh-CN" alt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这是推理中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常驻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常驻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常规的调度过程，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对于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“首先是上面的链路，这是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Cache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常驻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 HBM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的理想情况。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Prefill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阶段生成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后直接存入显存，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阶段每次只需从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读取，路径非常短，几乎没有任何数据搬运开销。但它的天花板也很明显——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容量有限，</a:t>
            </a:r>
            <a:r>
              <a:rPr lang="zh-CN" altLang="en-US" sz="12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一旦长上下文会话增多，显存很快就爆了。”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“因此不得不考虑下面这条路径：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Cache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常驻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SSD。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Prefill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阶段将完整的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写入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做持久化，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阶段再从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读取，经过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CPU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内存，最终搬运回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 HBM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进行计算。这条路径虽然解决了容量问题，但代价是引入了大量跨存储层的数据迁移。”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“所以，核心结论是：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长下文场景下，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扩展了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Cache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的容量上限，却将推理瓶颈从‘显存容量’转移到了‘存储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带宽’。”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“接下来的挑战就是——如何优化这条慢路径。”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这一页主要说明长上下文带来的两个问题。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首先，当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Cache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还能完整放在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里时，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阶段只需要从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读取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KV，4096 tokens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开销大约是 4.76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ms。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但如果同样规模的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被下沉到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再在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前恢复回来，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开销会上升到 61.26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ms，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说明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SSD-backed 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虽然解决了容量问题，但也把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restore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开销带进了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关键路径。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进一步看，当上下文增长到 4224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tokens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时，已经超过当前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 KV cache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容量，完整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驻留路径直接不可用。这说明长上下文推理不能只依赖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容量扩展，必须引入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SSD-backed KV，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以及更细粒度的恢复、预取和逐出机制。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LLM </a:t>
            </a:r>
            <a:r>
              <a:rPr lang="zh-CN" altLang="en-US" dirty="0"/>
              <a:t>推理里的 </a:t>
            </a:r>
            <a:r>
              <a:rPr lang="en-US" altLang="zh-CN" dirty="0"/>
              <a:t>KV </a:t>
            </a:r>
            <a:r>
              <a:rPr lang="zh-CN" altLang="en-US" dirty="0"/>
              <a:t>管理范式分成三代。</a:t>
            </a:r>
            <a:endParaRPr lang="zh-CN" altLang="en-US" dirty="0"/>
          </a:p>
          <a:p>
            <a:r>
              <a:rPr lang="zh-CN" altLang="en-US" dirty="0"/>
              <a:t>第一代是 </a:t>
            </a:r>
            <a:r>
              <a:rPr lang="en-US" altLang="zh-CN" dirty="0"/>
              <a:t>GPU</a:t>
            </a:r>
            <a:r>
              <a:rPr lang="zh-CN" altLang="en-US" dirty="0"/>
              <a:t>侧的</a:t>
            </a:r>
            <a:r>
              <a:rPr lang="en-US" altLang="zh-CN" dirty="0"/>
              <a:t>kv</a:t>
            </a:r>
            <a:r>
              <a:rPr lang="zh-CN" altLang="en-US" dirty="0"/>
              <a:t>管理</a:t>
            </a:r>
            <a:r>
              <a:rPr lang="en-US" altLang="zh-CN" dirty="0"/>
              <a:t>，</a:t>
            </a:r>
            <a:r>
              <a:rPr lang="zh-CN" altLang="en-US" dirty="0"/>
              <a:t>（比如 </a:t>
            </a:r>
            <a:r>
              <a:rPr lang="en-US" altLang="zh-CN" dirty="0"/>
              <a:t>Orca </a:t>
            </a:r>
            <a:r>
              <a:rPr lang="zh-CN" altLang="en-US" dirty="0"/>
              <a:t>和 </a:t>
            </a:r>
            <a:r>
              <a:rPr lang="en-US" altLang="zh-CN" dirty="0"/>
              <a:t>vLLM</a:t>
            </a:r>
            <a:r>
              <a:rPr lang="zh-CN" altLang="en-US" dirty="0"/>
              <a:t>）</a:t>
            </a:r>
            <a:r>
              <a:rPr lang="en-US" altLang="zh-CN" dirty="0"/>
              <a:t>，KV </a:t>
            </a:r>
            <a:r>
              <a:rPr lang="zh-CN" altLang="en-US" dirty="0"/>
              <a:t>主要常驻在 </a:t>
            </a:r>
            <a:r>
              <a:rPr lang="en-US" altLang="zh-CN" dirty="0"/>
              <a:t>GPU </a:t>
            </a:r>
            <a:r>
              <a:rPr lang="zh-CN" altLang="en-US" dirty="0"/>
              <a:t>显存里，重点解决显存碎片和 </a:t>
            </a:r>
            <a:r>
              <a:rPr lang="en-US" altLang="zh-CN" dirty="0"/>
              <a:t>batch </a:t>
            </a:r>
            <a:r>
              <a:rPr lang="zh-CN" altLang="en-US" dirty="0"/>
              <a:t>调度问题，但受 </a:t>
            </a:r>
            <a:r>
              <a:rPr lang="en-US" altLang="zh-CN" dirty="0"/>
              <a:t>HBM </a:t>
            </a:r>
            <a:r>
              <a:rPr lang="zh-CN" altLang="en-US" dirty="0"/>
              <a:t>容量限制，长上下文和多轮会话扩展受限。</a:t>
            </a:r>
            <a:endParaRPr lang="zh-CN" altLang="en-US" dirty="0"/>
          </a:p>
          <a:p>
            <a:r>
              <a:rPr lang="zh-CN" altLang="en-US" dirty="0"/>
              <a:t>第二代是 </a:t>
            </a:r>
            <a:r>
              <a:rPr lang="en-US" altLang="zh-CN" dirty="0"/>
              <a:t>CPU-centric </a:t>
            </a:r>
            <a:r>
              <a:rPr lang="zh-CN" altLang="en-US" dirty="0"/>
              <a:t>分层 </a:t>
            </a:r>
            <a:r>
              <a:rPr lang="en-US" altLang="zh-CN" dirty="0"/>
              <a:t>offload，</a:t>
            </a:r>
            <a:r>
              <a:rPr lang="zh-CN" altLang="en-US" dirty="0"/>
              <a:t>把 </a:t>
            </a:r>
            <a:r>
              <a:rPr lang="en-US" altLang="zh-CN" dirty="0"/>
              <a:t>KV </a:t>
            </a:r>
            <a:r>
              <a:rPr lang="zh-CN" altLang="en-US" dirty="0"/>
              <a:t>扩到 </a:t>
            </a:r>
            <a:r>
              <a:rPr lang="en-US" altLang="zh-CN" dirty="0"/>
              <a:t>CPU DRAM </a:t>
            </a:r>
            <a:r>
              <a:rPr lang="zh-CN" altLang="en-US" dirty="0"/>
              <a:t>或 </a:t>
            </a:r>
            <a:r>
              <a:rPr lang="en-US" altLang="zh-CN" dirty="0"/>
              <a:t>SSD，</a:t>
            </a:r>
            <a:r>
              <a:rPr lang="zh-CN" altLang="en-US" dirty="0"/>
              <a:t>由 </a:t>
            </a:r>
            <a:r>
              <a:rPr lang="en-US" altLang="zh-CN" dirty="0"/>
              <a:t>CPU </a:t>
            </a:r>
            <a:r>
              <a:rPr lang="zh-CN" altLang="en-US" dirty="0"/>
              <a:t>来组织 </a:t>
            </a:r>
            <a:r>
              <a:rPr lang="en-US" altLang="zh-CN" dirty="0"/>
              <a:t>restore、swap </a:t>
            </a:r>
            <a:r>
              <a:rPr lang="zh-CN" altLang="en-US" dirty="0"/>
              <a:t>和 </a:t>
            </a:r>
            <a:r>
              <a:rPr lang="en-US" altLang="zh-CN" dirty="0"/>
              <a:t>cache reuse，</a:t>
            </a:r>
            <a:r>
              <a:rPr lang="zh-CN" altLang="en-US" dirty="0"/>
              <a:t>但这时 </a:t>
            </a:r>
            <a:r>
              <a:rPr lang="en-US" altLang="zh-CN" dirty="0"/>
              <a:t>SSD I/O </a:t>
            </a:r>
            <a:r>
              <a:rPr lang="zh-CN" altLang="en-US" dirty="0"/>
              <a:t>已经进入关键路径。</a:t>
            </a:r>
            <a:endParaRPr lang="zh-CN" altLang="en-US" dirty="0"/>
          </a:p>
          <a:p>
            <a:r>
              <a:rPr lang="zh-CN" altLang="en-US" dirty="0"/>
              <a:t>第三代是 </a:t>
            </a:r>
            <a:r>
              <a:rPr lang="en-US" altLang="zh-CN" dirty="0"/>
              <a:t>SSD-backed KV Cache，</a:t>
            </a:r>
            <a:r>
              <a:rPr lang="zh-CN" altLang="en-US" dirty="0"/>
              <a:t>（像 </a:t>
            </a:r>
            <a:r>
              <a:rPr lang="en-US" altLang="zh-CN" dirty="0"/>
              <a:t>TARDIS </a:t>
            </a:r>
            <a:r>
              <a:rPr lang="zh-CN" altLang="en-US" dirty="0"/>
              <a:t>和 </a:t>
            </a:r>
            <a:r>
              <a:rPr lang="en-US" altLang="zh-CN" dirty="0"/>
              <a:t>SolidAttention</a:t>
            </a:r>
            <a:r>
              <a:rPr lang="zh-CN" altLang="en-US" dirty="0"/>
              <a:t>）</a:t>
            </a:r>
            <a:r>
              <a:rPr lang="en-US" altLang="zh-CN" dirty="0"/>
              <a:t>，</a:t>
            </a:r>
            <a:r>
              <a:rPr lang="zh-CN" altLang="en-US" dirty="0"/>
              <a:t>进一步把历史 </a:t>
            </a:r>
            <a:r>
              <a:rPr lang="en-US" altLang="zh-CN" dirty="0"/>
              <a:t>KV </a:t>
            </a:r>
            <a:r>
              <a:rPr lang="zh-CN" altLang="en-US" dirty="0"/>
              <a:t>下沉到 </a:t>
            </a:r>
            <a:r>
              <a:rPr lang="en-US" altLang="zh-CN" dirty="0"/>
              <a:t>SSD，</a:t>
            </a:r>
            <a:r>
              <a:rPr lang="zh-CN" altLang="en-US" dirty="0"/>
              <a:t>命中后再恢复到 </a:t>
            </a:r>
            <a:r>
              <a:rPr lang="en-US" altLang="zh-CN" dirty="0"/>
              <a:t>GPU，</a:t>
            </a:r>
            <a:r>
              <a:rPr lang="zh-CN" altLang="en-US" dirty="0"/>
              <a:t>能扩展可服务上下文和会话规模，但新的瓶颈也变成了 </a:t>
            </a:r>
            <a:r>
              <a:rPr lang="en-US" altLang="zh-CN" dirty="0"/>
              <a:t>SSD restore </a:t>
            </a:r>
            <a:r>
              <a:rPr lang="zh-CN" altLang="en-US" dirty="0"/>
              <a:t>和 </a:t>
            </a:r>
            <a:r>
              <a:rPr lang="en-US" altLang="zh-CN" dirty="0"/>
              <a:t>writeback。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（这一页简单带过。）</a:t>
            </a:r>
            <a:endParaRPr lang="zh-CN" altLang="en-US" dirty="0"/>
          </a:p>
          <a:p>
            <a:r>
              <a:rPr lang="zh-CN" altLang="en-US" dirty="0"/>
              <a:t>然后是基于</a:t>
            </a:r>
            <a:r>
              <a:rPr lang="en-US" altLang="zh-CN" dirty="0"/>
              <a:t>SSD</a:t>
            </a:r>
            <a:r>
              <a:rPr lang="zh-CN" altLang="en-US" dirty="0"/>
              <a:t>的</a:t>
            </a:r>
            <a:r>
              <a:rPr lang="en-US" altLang="zh-CN" dirty="0"/>
              <a:t>io</a:t>
            </a:r>
            <a:r>
              <a:rPr lang="zh-CN" altLang="en-US" dirty="0"/>
              <a:t>链路的发展情况。</a:t>
            </a:r>
            <a:endParaRPr lang="zh-CN" altLang="en-US" dirty="0"/>
          </a:p>
          <a:p>
            <a:r>
              <a:rPr lang="zh-CN" altLang="en-US" dirty="0"/>
              <a:t>传统 </a:t>
            </a:r>
            <a:r>
              <a:rPr lang="en-US" altLang="zh-CN" dirty="0"/>
              <a:t>SSD -&gt; CPU -&gt; GPU </a:t>
            </a:r>
            <a:r>
              <a:rPr lang="zh-CN" altLang="en-US" dirty="0"/>
              <a:t>路径最通用，但中转和同步开销也最大。</a:t>
            </a:r>
            <a:endParaRPr lang="zh-CN" altLang="en-US" dirty="0"/>
          </a:p>
          <a:p>
            <a:r>
              <a:rPr lang="en-US" altLang="zh-CN" dirty="0"/>
              <a:t>GDS </a:t>
            </a:r>
            <a:r>
              <a:rPr lang="zh-CN" altLang="en-US" dirty="0"/>
              <a:t>去掉了 </a:t>
            </a:r>
            <a:r>
              <a:rPr lang="en-US" altLang="zh-CN" dirty="0"/>
              <a:t>CPU </a:t>
            </a:r>
            <a:r>
              <a:rPr lang="zh-CN" altLang="en-US" dirty="0"/>
              <a:t>的数据中转，数据面变短</a:t>
            </a:r>
            <a:endParaRPr lang="zh-CN" altLang="en-US" dirty="0"/>
          </a:p>
          <a:p>
            <a:r>
              <a:rPr lang="zh-CN" altLang="en-US" dirty="0"/>
              <a:t>根据控制面可以分为两类，即</a:t>
            </a:r>
            <a:r>
              <a:rPr lang="en-US" altLang="zh-CN" dirty="0"/>
              <a:t>CPU-centric</a:t>
            </a:r>
            <a:r>
              <a:rPr lang="zh-CN" altLang="en-US" dirty="0"/>
              <a:t>的</a:t>
            </a:r>
            <a:r>
              <a:rPr lang="en-US" altLang="zh-CN" dirty="0"/>
              <a:t>GDS </a:t>
            </a:r>
            <a:r>
              <a:rPr lang="zh-CN" altLang="en-US" dirty="0"/>
              <a:t>其 </a:t>
            </a:r>
            <a:r>
              <a:rPr lang="en-US" altLang="zh-CN" dirty="0"/>
              <a:t>I/O </a:t>
            </a:r>
            <a:r>
              <a:rPr lang="zh-CN" altLang="en-US" dirty="0"/>
              <a:t>请求本身还是主要由 </a:t>
            </a:r>
            <a:r>
              <a:rPr lang="en-US" altLang="zh-CN" dirty="0"/>
              <a:t>CPU </a:t>
            </a:r>
            <a:r>
              <a:rPr lang="zh-CN" altLang="en-US" dirty="0"/>
              <a:t>发起，所以在细粒度随机 </a:t>
            </a:r>
            <a:r>
              <a:rPr lang="en-US" altLang="zh-CN" dirty="0"/>
              <a:t>I/O </a:t>
            </a:r>
            <a:r>
              <a:rPr lang="zh-CN" altLang="en-US" dirty="0"/>
              <a:t>下控制面负担依然很重。</a:t>
            </a:r>
            <a:endParaRPr lang="zh-CN" altLang="en-US" dirty="0"/>
          </a:p>
          <a:p>
            <a:r>
              <a:rPr lang="zh-CN" altLang="en-US" dirty="0"/>
              <a:t>另外一种范式是 </a:t>
            </a:r>
            <a:r>
              <a:rPr lang="en-US" altLang="zh-CN" dirty="0"/>
              <a:t>GPU-initiated direct storage，</a:t>
            </a:r>
            <a:r>
              <a:rPr lang="zh-CN" altLang="en-US" dirty="0"/>
              <a:t>将控制平面下沉到</a:t>
            </a:r>
            <a:r>
              <a:rPr lang="en-US" altLang="zh-CN" dirty="0"/>
              <a:t>GPU</a:t>
            </a:r>
            <a:r>
              <a:rPr lang="zh-CN" altLang="en-US" dirty="0"/>
              <a:t>上，即把提交和完成推进更多下沉到 </a:t>
            </a:r>
            <a:r>
              <a:rPr lang="en-US" altLang="zh-CN" dirty="0"/>
              <a:t>GPU </a:t>
            </a:r>
            <a:r>
              <a:rPr lang="zh-CN" altLang="en-US" dirty="0"/>
              <a:t>侧，更适合高并发、细粒度访问。</a:t>
            </a:r>
            <a:endParaRPr lang="zh-CN" altLang="en-US" dirty="0"/>
          </a:p>
          <a:p>
            <a:r>
              <a:rPr lang="zh-CN" altLang="en-US" dirty="0"/>
              <a:t>（不过 </a:t>
            </a:r>
            <a:r>
              <a:rPr lang="en-US" altLang="zh-CN" dirty="0"/>
              <a:t>KV Cache </a:t>
            </a:r>
            <a:r>
              <a:rPr lang="zh-CN" altLang="en-US" dirty="0"/>
              <a:t>场景还需要专门适配语义和调度，所以我的工作重点就是在 </a:t>
            </a:r>
            <a:r>
              <a:rPr lang="en-US" altLang="zh-CN" dirty="0"/>
              <a:t>GPU-initiated </a:t>
            </a:r>
            <a:r>
              <a:rPr lang="zh-CN" altLang="en-US" dirty="0"/>
              <a:t>这一底座上进行 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针对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KV Cache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的细粒度随机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IO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的泛用异步管理机制与调度方案的研究）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这一页想说明两类典型问题。</a:t>
            </a:r>
            <a:endParaRPr lang="zh-CN" altLang="en-US" dirty="0"/>
          </a:p>
          <a:p>
            <a:r>
              <a:rPr lang="zh-CN" altLang="en-US" dirty="0"/>
              <a:t>第一类是长上下文和多轮对话，单请求的 </a:t>
            </a:r>
            <a:r>
              <a:rPr lang="en-US" altLang="zh-CN" dirty="0"/>
              <a:t>prefix KV </a:t>
            </a:r>
            <a:r>
              <a:rPr lang="zh-CN" altLang="en-US" dirty="0"/>
              <a:t>很大，全量加载代价高，极端情况下会因为频繁换入换出拉长 </a:t>
            </a:r>
            <a:r>
              <a:rPr lang="en-US" altLang="zh-CN" dirty="0"/>
              <a:t>TTFT。</a:t>
            </a:r>
            <a:endParaRPr lang="en-US" altLang="zh-CN" dirty="0"/>
          </a:p>
          <a:p>
            <a:r>
              <a:rPr lang="zh-CN" altLang="en-US" dirty="0"/>
              <a:t>第二类是多用户并发会话，历史 </a:t>
            </a:r>
            <a:r>
              <a:rPr lang="en-US" altLang="zh-CN" dirty="0"/>
              <a:t>KV </a:t>
            </a:r>
            <a:r>
              <a:rPr lang="zh-CN" altLang="en-US" dirty="0"/>
              <a:t>持续累积，</a:t>
            </a:r>
            <a:r>
              <a:rPr lang="en-US" altLang="zh-CN" dirty="0"/>
              <a:t>HBM </a:t>
            </a:r>
            <a:r>
              <a:rPr lang="zh-CN" altLang="en-US" dirty="0"/>
              <a:t>很快吃紧，导致带宽开销上升、尾延迟变大。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它们的共性问题是，</a:t>
            </a:r>
            <a:r>
              <a:rPr lang="en-US" altLang="zh-CN" dirty="0">
                <a:sym typeface="+mn-ea"/>
              </a:rPr>
              <a:t>SSD-backed </a:t>
            </a:r>
            <a:r>
              <a:rPr lang="zh-CN" altLang="en-US" dirty="0">
                <a:sym typeface="+mn-ea"/>
              </a:rPr>
              <a:t>场景下往往还是按 </a:t>
            </a:r>
            <a:r>
              <a:rPr lang="en-US" altLang="zh-CN" dirty="0">
                <a:sym typeface="+mn-ea"/>
              </a:rPr>
              <a:t>chunk </a:t>
            </a:r>
            <a:r>
              <a:rPr lang="zh-CN" altLang="en-US" dirty="0">
                <a:sym typeface="+mn-ea"/>
              </a:rPr>
              <a:t>或 </a:t>
            </a:r>
            <a:r>
              <a:rPr lang="en-US" altLang="zh-CN" dirty="0">
                <a:sym typeface="+mn-ea"/>
              </a:rPr>
              <a:t>full-prefix </a:t>
            </a:r>
            <a:r>
              <a:rPr lang="zh-CN" altLang="en-US" dirty="0">
                <a:sym typeface="+mn-ea"/>
              </a:rPr>
              <a:t>去恢复，容易读入当前不需要的数据，而且 </a:t>
            </a:r>
            <a:r>
              <a:rPr lang="en-US" altLang="zh-CN" dirty="0">
                <a:sym typeface="+mn-ea"/>
              </a:rPr>
              <a:t>GPU </a:t>
            </a:r>
            <a:r>
              <a:rPr lang="zh-CN" altLang="en-US" dirty="0">
                <a:sym typeface="+mn-ea"/>
              </a:rPr>
              <a:t>显存容量依然会限制并行度。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（现有方法包括以下两种：一条是层级调度和异步预取，另一条是稀疏注意力。）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这一页想说明两类典型问题。</a:t>
            </a:r>
            <a:endParaRPr lang="zh-CN" altLang="en-US" dirty="0"/>
          </a:p>
          <a:p>
            <a:r>
              <a:rPr lang="zh-CN" altLang="en-US" dirty="0"/>
              <a:t>第一类是长上下文和多轮对话，单请求的 </a:t>
            </a:r>
            <a:r>
              <a:rPr lang="en-US" altLang="zh-CN" dirty="0"/>
              <a:t>prefix KV </a:t>
            </a:r>
            <a:r>
              <a:rPr lang="zh-CN" altLang="en-US" dirty="0"/>
              <a:t>很大，全量加载代价高，极端情况下会因为频繁换入换出拉长 </a:t>
            </a:r>
            <a:r>
              <a:rPr lang="en-US" altLang="zh-CN" dirty="0"/>
              <a:t>TTFT。</a:t>
            </a:r>
            <a:endParaRPr lang="en-US" altLang="zh-CN" dirty="0"/>
          </a:p>
          <a:p>
            <a:r>
              <a:rPr lang="zh-CN" altLang="en-US" dirty="0"/>
              <a:t>第二类是多用户并发会话，历史 </a:t>
            </a:r>
            <a:r>
              <a:rPr lang="en-US" altLang="zh-CN" dirty="0"/>
              <a:t>KV </a:t>
            </a:r>
            <a:r>
              <a:rPr lang="zh-CN" altLang="en-US" dirty="0"/>
              <a:t>持续累积，</a:t>
            </a:r>
            <a:r>
              <a:rPr lang="en-US" altLang="zh-CN" dirty="0"/>
              <a:t>HBM </a:t>
            </a:r>
            <a:r>
              <a:rPr lang="zh-CN" altLang="en-US" dirty="0"/>
              <a:t>很快吃紧，导致带宽开销上升、尾延迟变大。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它们的共性问题是，</a:t>
            </a:r>
            <a:r>
              <a:rPr lang="en-US" altLang="zh-CN" dirty="0">
                <a:sym typeface="+mn-ea"/>
              </a:rPr>
              <a:t>SSD-backed </a:t>
            </a:r>
            <a:r>
              <a:rPr lang="zh-CN" altLang="en-US" dirty="0">
                <a:sym typeface="+mn-ea"/>
              </a:rPr>
              <a:t>场景下往往还是按 </a:t>
            </a:r>
            <a:r>
              <a:rPr lang="en-US" altLang="zh-CN" dirty="0">
                <a:sym typeface="+mn-ea"/>
              </a:rPr>
              <a:t>chunk </a:t>
            </a:r>
            <a:r>
              <a:rPr lang="zh-CN" altLang="en-US" dirty="0">
                <a:sym typeface="+mn-ea"/>
              </a:rPr>
              <a:t>或 </a:t>
            </a:r>
            <a:r>
              <a:rPr lang="en-US" altLang="zh-CN" dirty="0">
                <a:sym typeface="+mn-ea"/>
              </a:rPr>
              <a:t>full-prefix </a:t>
            </a:r>
            <a:r>
              <a:rPr lang="zh-CN" altLang="en-US" dirty="0">
                <a:sym typeface="+mn-ea"/>
              </a:rPr>
              <a:t>去恢复，容易读入当前不需要的数据，而且 </a:t>
            </a:r>
            <a:r>
              <a:rPr lang="en-US" altLang="zh-CN" dirty="0">
                <a:sym typeface="+mn-ea"/>
              </a:rPr>
              <a:t>GPU </a:t>
            </a:r>
            <a:r>
              <a:rPr lang="zh-CN" altLang="en-US" dirty="0">
                <a:sym typeface="+mn-ea"/>
              </a:rPr>
              <a:t>显存容量依然会限制并行度。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（现有方法包括以下两种：一条是层级调度和异步预取，另一条是稀疏注意力。）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第一个问题是，长上下文场景下，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SSD-backed KV cache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的组织粒度通常还是偏粗的。</a:t>
            </a:r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结合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sparse attention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层级预取与逐出是解决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放不下问题的思路，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而无论是层级预取还是稀疏注意力，都需要细粒度的组织方式，并且组织方式还不一样。</a:t>
            </a:r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以经典的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KVcacheIO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存储后端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LMCache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为例，其数据组织是以多个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block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打包成一个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chunk</a:t>
            </a:r>
            <a:endParaRPr lang="en-US" altLang="zh-CN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可以看到层级预取是这样的数据粒度，稀疏注意力是这样的数据粒度，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现有的粗粒度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方案难以在维持带宽的情况下同时对这两种方案提供支持。</a:t>
            </a:r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长请求本身会占用很多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显存，导致系统很难同时并发更多请求，计算并行度上不去。</a:t>
            </a:r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这和当前粗粒度的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SSD-backed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方案并不匹配，所以虽然这两个方案能缓解一部分问题，整体上还是没法充分发挥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带宽，也没法彻底解决长上下文和多请求并发的问题。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为什么选择 </a:t>
            </a:r>
            <a:r>
              <a:rPr lang="en-US" altLang="zh-CN" dirty="0"/>
              <a:t>BaM </a:t>
            </a:r>
            <a:r>
              <a:rPr lang="zh-CN" altLang="en-US" dirty="0"/>
              <a:t>作为底层 </a:t>
            </a:r>
            <a:r>
              <a:rPr lang="en-US" altLang="zh-CN" dirty="0"/>
              <a:t>I/O </a:t>
            </a:r>
            <a:r>
              <a:rPr lang="zh-CN" altLang="en-US" dirty="0"/>
              <a:t>后端。由于</a:t>
            </a:r>
            <a:r>
              <a:rPr lang="en-US" altLang="zh-CN" dirty="0"/>
              <a:t>KV Cache </a:t>
            </a:r>
            <a:r>
              <a:rPr lang="zh-CN" altLang="en-US" dirty="0"/>
              <a:t>的恢复粒度天然偏小，而要想发挥</a:t>
            </a:r>
            <a:r>
              <a:rPr lang="en-US" altLang="zh-CN" dirty="0"/>
              <a:t>SSD</a:t>
            </a:r>
            <a:r>
              <a:rPr lang="zh-CN" altLang="en-US" dirty="0"/>
              <a:t>的带宽，则需要把数据粒度组织的比较大，这就天然丧失了调度的灵活性和粒度</a:t>
            </a:r>
            <a:endParaRPr lang="zh-CN" altLang="en-US" dirty="0"/>
          </a:p>
          <a:p>
            <a:r>
              <a:rPr lang="zh-CN" altLang="en-US" dirty="0"/>
              <a:t>在</a:t>
            </a:r>
            <a:r>
              <a:rPr lang="en-US" altLang="zh-CN" dirty="0"/>
              <a:t>BaM</a:t>
            </a:r>
            <a:r>
              <a:rPr lang="zh-CN" altLang="en-US" dirty="0"/>
              <a:t>系统的基础下，一个 </a:t>
            </a:r>
            <a:r>
              <a:rPr lang="en-US" altLang="zh-CN" dirty="0"/>
              <a:t>BaM fragment </a:t>
            </a:r>
            <a:r>
              <a:rPr lang="zh-CN" altLang="en-US" dirty="0"/>
              <a:t>可以根据调度需要设置成小粒度，比如 16</a:t>
            </a:r>
            <a:r>
              <a:rPr lang="en-US" altLang="zh-CN" dirty="0"/>
              <a:t>KB，</a:t>
            </a:r>
            <a:r>
              <a:rPr lang="zh-CN" altLang="en-US" dirty="0"/>
              <a:t>属于 32</a:t>
            </a:r>
            <a:r>
              <a:rPr lang="en-US" altLang="zh-CN" dirty="0"/>
              <a:t>KB </a:t>
            </a:r>
            <a:r>
              <a:rPr lang="zh-CN" altLang="en-US" dirty="0"/>
              <a:t>以下的小粒度随机 </a:t>
            </a:r>
            <a:r>
              <a:rPr lang="en-US" altLang="zh-CN" dirty="0"/>
              <a:t>I/O。</a:t>
            </a:r>
            <a:r>
              <a:rPr lang="zh-CN" altLang="en-US" dirty="0"/>
              <a:t>传统 </a:t>
            </a:r>
            <a:r>
              <a:rPr lang="en-US" altLang="zh-CN" dirty="0"/>
              <a:t>GDS </a:t>
            </a:r>
            <a:r>
              <a:rPr lang="zh-CN" altLang="en-US" dirty="0"/>
              <a:t>在这个粒度下带宽利用率不高，而 </a:t>
            </a:r>
            <a:r>
              <a:rPr lang="en-US" altLang="zh-CN" dirty="0"/>
              <a:t>BaM </a:t>
            </a:r>
            <a:r>
              <a:rPr lang="zh-CN" altLang="en-US" dirty="0"/>
              <a:t>可以在 4</a:t>
            </a:r>
            <a:r>
              <a:rPr lang="en-US" altLang="zh-CN" dirty="0"/>
              <a:t>KB </a:t>
            </a:r>
            <a:r>
              <a:rPr lang="zh-CN" altLang="en-US" dirty="0"/>
              <a:t>到 16</a:t>
            </a:r>
            <a:r>
              <a:rPr lang="en-US" altLang="zh-CN" dirty="0"/>
              <a:t>KB </a:t>
            </a:r>
            <a:r>
              <a:rPr lang="zh-CN" altLang="en-US" dirty="0"/>
              <a:t>的小 </a:t>
            </a:r>
            <a:r>
              <a:rPr lang="en-US" altLang="zh-CN" dirty="0"/>
              <a:t>I/O </a:t>
            </a:r>
            <a:r>
              <a:rPr lang="zh-CN" altLang="en-US" dirty="0"/>
              <a:t>下仍然能保持接近满带宽。</a:t>
            </a:r>
            <a:endParaRPr lang="zh-CN" altLang="en-US" dirty="0"/>
          </a:p>
          <a:p>
            <a:r>
              <a:rPr lang="zh-CN" altLang="en-US" dirty="0"/>
              <a:t>因此我的研究重点就是基于 </a:t>
            </a:r>
            <a:r>
              <a:rPr lang="en-US" altLang="zh-CN" dirty="0"/>
              <a:t>BaM </a:t>
            </a:r>
            <a:r>
              <a:rPr lang="zh-CN" altLang="en-US" dirty="0"/>
              <a:t>的 </a:t>
            </a:r>
            <a:r>
              <a:rPr lang="en-US" altLang="zh-CN" dirty="0"/>
              <a:t>GPU-initiated </a:t>
            </a:r>
            <a:r>
              <a:rPr lang="zh-CN" altLang="en-US" dirty="0"/>
              <a:t>直通存储范式，设计面向 </a:t>
            </a:r>
            <a:r>
              <a:rPr lang="en-US" altLang="zh-CN" dirty="0"/>
              <a:t>KV cache </a:t>
            </a:r>
            <a:r>
              <a:rPr lang="zh-CN" altLang="en-US" dirty="0"/>
              <a:t>细粒度随机 </a:t>
            </a:r>
            <a:r>
              <a:rPr lang="en-US" altLang="zh-CN" dirty="0"/>
              <a:t>I/O </a:t>
            </a:r>
            <a:r>
              <a:rPr lang="zh-CN" altLang="en-US" dirty="0"/>
              <a:t>的通用预取与后台 </a:t>
            </a:r>
            <a:r>
              <a:rPr lang="en-US" altLang="zh-CN" dirty="0"/>
              <a:t>I/O </a:t>
            </a:r>
            <a:r>
              <a:rPr lang="zh-CN" altLang="en-US" dirty="0"/>
              <a:t>机制，支撑长上下文和多用户对话。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（但是，</a:t>
            </a:r>
            <a:r>
              <a:rPr 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GPU-initiated Direct storage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模式虽然相较于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CPU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路径有较大的性能提升，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Compute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仍然是串行执行，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的同步轮询过程中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线程忙等，计算资源被浪费）</a:t>
            </a:r>
            <a:endParaRPr lang="zh-CN" altLang="en-US" b="1" i="0" u="none" strike="noStrike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但是，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BaM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系统仍然存在一定问题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左图可以看到，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IO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请求由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阻塞式发起，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比如针对其中一个数据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v1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，他会利用一个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warp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来同步读取这一个线程，发起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submit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之后利用主线程对该结点数据进行同步轮询，细节可看右图，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整个数据读取过程中线程会忙等直到数据传输完成。这是因为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线程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SIMT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的性质，条件语句会导致分支发散，性能下降，因此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系统将同一个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warp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的请求做聚合，由主线程负责轮询，这解决了分支发散的问题，但也导致了整个数据同步读取过程有大量的线程在忙等，同时，原生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的同步架构，无法支撑细粒度的异步预取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IO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机制。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同时，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系统还有另外一个问题。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将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改进为异步模式后，其原先的轮询机制就会出现问题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由于提交和轮询已经被异步解耦，此时提交和轮询都是乱序的，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而原有的轮询机制是根据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submit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的顺序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FIFO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来进行的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所以有可能出现：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algn="l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线程先进行轮询，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的数据先完成传输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的线程无法取出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的线程被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的线程阻塞，无法取出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，导致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死锁</a:t>
            </a:r>
            <a:endParaRPr lang="zh-CN" altLang="en-US" b="1"/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首先是问题一的方案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对于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SSD-backend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Cache，sparse attention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认为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Decode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过程中并不是所有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都需要参与当前的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Attention。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因此，我们首先利用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Sparse Attention，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根据当前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Query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的重要性进行筛选，也就是这个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select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，只取真正需要访问的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Block。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在此基础上，可以进一步利用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Transformer Layer-by-Layer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的执行顺序。当前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Layer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Attention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完成后，可以根据当前的稀疏注意力策略选定或者预测下一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Layer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可能需要的重要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并提前从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发起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Prefetch。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随后进行计算，计算完成之后，就可以把该层的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直接逐出，将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HBM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资源空出来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因此，这两个机制分别解决两个问题：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Sparse Attention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减少需要读取的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数量，而层级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Prefetch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尽可能提前发起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I/O、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隐藏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访问延迟。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这样，就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可以把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restore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 </a:t>
            </a:r>
            <a:r>
              <a:rPr 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Chunk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级的大粒度读取，转化为支持局部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预取与层级预取的细粒度数据与后台流水线，稀疏注意力可以让每个请求只恢复最有价值的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block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，从而减少每个请求占用的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显存，为多会话长上下文按层预取与并行计算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提供系统支持。</a:t>
            </a:r>
            <a:endParaRPr lang="zh-CN" altLang="en-US" b="1" i="0" u="none" strike="noStrike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然后是问题二的方案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这一页展示的是。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GranuleKV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：面向 </a:t>
            </a: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SSD-backed KV Cache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细粒度异步 </a:t>
            </a: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底座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这是一个完整的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GPU-initiated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直通存储、支持小粒度预取与异步重叠机制的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存储后端。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整体思路不是把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先搬到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CPU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再回填，而是让请求在后台异步提交，完成后数据直接填入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vLLM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cache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里。这样就可以完成计算与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的细粒度重叠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这里有几个关键设计：第一，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submit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是非阻塞的，提交后就返回，不把前台线程卡死；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CQ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由后台常驻线程持续轮询和推进，保证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completion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能被及时回收，且解决了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sq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队列死锁的问题；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第三，传输目标直接映射到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vLLM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cache，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不再经过额外的中间拷贝层；第四，后台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worker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常驻，负责把持续到来的细粒度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流水化起来，从而解放了原先忙等的线程。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所以这条链路的核心是把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访问变成一个持续流动的异步后台系统，让 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SSD 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读取能力真正服务于前台推理。而原先的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cache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的管理转换成了推理系统的调度，而整个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BaM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异步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后端成为了一个真正可用的推理系统的后台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IO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系统。</a:t>
            </a:r>
            <a:endParaRPr lang="zh-CN" altLang="en-US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defRPr/>
            </a:pPr>
            <a:r>
              <a:rPr 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这是问题三的解决方案，也就是上一页提到的后台轻量化轮询</a:t>
            </a:r>
            <a:endParaRPr lang="zh-CN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解决方案是，在异步的基础上，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submit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无阻塞提交请求之后，</a:t>
            </a:r>
            <a:endParaRPr lang="zh-CN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利用后台线程，不针对提交的数据，而是针对固定的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CQ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队列进行轮询、写回，在不引入分支发散的前提下解放忙等的线程，从而减少对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GPU</a:t>
            </a:r>
            <a:r>
              <a:rPr lang="zh-CN" altLang="en-US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线程资源的占用</a:t>
            </a:r>
            <a:endParaRPr lang="zh-CN" altLang="en-US" sz="1200" b="1" i="0" u="none" strike="noStrike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最后是方案验证的实验结果</a:t>
            </a:r>
            <a:endParaRPr lang="zh-CN" altLang="en-US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左上角这张表，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以同步的调度方式与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LMCache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对比带宽情况（设置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chunk=1block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），在细粒度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restore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下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能明显提高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 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有效带宽，说明它在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kvcache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的小粒度随机 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</a:t>
            </a:r>
            <a:r>
              <a:rPr lang="zh-CN" altLang="en-US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上确实有带宽优势</a:t>
            </a:r>
            <a:r>
              <a:rPr lang="en-US" altLang="zh-CN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。</a:t>
            </a:r>
            <a:endParaRPr lang="en-US" altLang="zh-CN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右边这张图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做的是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sparse-style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的部分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恢复实验，以验证系统功能的正确性和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IO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性能，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只让每个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unit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恢复最后若干个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block。</a:t>
            </a: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可以看到，相比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dense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全量恢复，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tail_n=1、5、10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都能把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physical restore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压下来，说明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这条细粒度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链路确实能从“少读一些块”里拿到实际收益。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下面这个表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这里选择了一种场景，即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prefix+compute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，串行 全量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restore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情况下，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TTFT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是 2103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ms；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引入层级预取后，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TTFT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降到 1752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ms，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下降约 17%。这说明长上下文的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prefix restore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有一部分确实可以和后续计算重叠起来，层级预取的功能是有效的。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最后是总结。第一，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SSD-backed KV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的粒度太粗，所以需要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BaM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这种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GPU-initiated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后端，把细粒度随机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的带宽打出来；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第二，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太细会导致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IO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数量激增，必须用后台常驻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CQ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轮询和异步上下文管理，避免队列阻塞；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第三，光有底层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I/O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还不够，还需要把层级预取、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sparse attention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和调度做好，才能真正把长上下文和多用户对话的问题解决掉。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并且，当前的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GPU-Initiated Direct Storage 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细粒度异步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IO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后端作为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IO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链路核心工作之一参与</a:t>
            </a:r>
            <a:r>
              <a:rPr lang="en-US" altLang="zh-CN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ATC’2026</a:t>
            </a:r>
            <a:r>
              <a:rPr lang="zh-CN" altLang="en-US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论文投稿</a:t>
            </a:r>
            <a:endParaRPr lang="zh-CN" alt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2"/>
            <a:ext cx="12192000" cy="1085076"/>
          </a:xfrm>
          <a:prstGeom prst="rect">
            <a:avLst/>
          </a:prstGeom>
          <a:solidFill>
            <a:srgbClr val="1F4E7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ph type="body" sz="quarter" idx="6" hasCustomPrompt="1"/>
          </p:nvPr>
        </p:nvSpPr>
        <p:spPr>
          <a:xfrm>
            <a:off x="1524000" y="1244220"/>
            <a:ext cx="9144000" cy="22592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ctr">
              <a:lnSpc>
                <a:spcPct val="92000"/>
              </a:lnSpc>
              <a:defRPr sz="4800" b="0" i="0" u="none" strike="noStrike" spc="0">
                <a:solidFill>
                  <a:srgbClr val="1F4E79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800" b="0" i="0" u="none" strike="noStrike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800" b="0" i="0" u="none" strike="noStrike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7" hasCustomPrompt="1"/>
          </p:nvPr>
        </p:nvSpPr>
        <p:spPr>
          <a:xfrm>
            <a:off x="1524000" y="3849503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482009" y="3676465"/>
            <a:ext cx="11227981" cy="0"/>
          </a:xfrm>
          <a:prstGeom prst="line">
            <a:avLst/>
          </a:prstGeom>
          <a:noFill/>
          <a:ln w="25400" cap="flat">
            <a:solidFill>
              <a:srgbClr val="1F4E7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73110" y="286859"/>
            <a:ext cx="4729158" cy="47890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3276" y="127590"/>
            <a:ext cx="3943510" cy="79744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2"/>
            <a:ext cx="12192000" cy="1085076"/>
          </a:xfrm>
          <a:prstGeom prst="rect">
            <a:avLst/>
          </a:prstGeom>
          <a:solidFill>
            <a:srgbClr val="1F4E7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ph type="body" sz="quarter" idx="8" hasCustomPrompt="1"/>
          </p:nvPr>
        </p:nvSpPr>
        <p:spPr>
          <a:xfrm>
            <a:off x="426720" y="1253330"/>
            <a:ext cx="11338560" cy="4839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762000" indent="-304800"/>
            <a:lvl3pPr marL="1168400" indent="-254000"/>
            <a:lvl4pPr marL="1600200" indent="-228600"/>
            <a:lvl5pPr marL="2057400" indent="-228600"/>
            <a:lvl6pPr marL="2514600" indent="-228600"/>
            <a:lvl7pPr marL="2971800" indent="-228600"/>
            <a:lvl8pPr marL="3429000" indent="-228600"/>
            <a:lvl9pPr marL="3886200" indent="-228600"/>
          </a:lstStyle>
          <a:p>
            <a:pPr marL="355600" indent="-355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762000" lvl="1" indent="-3048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68400" lvl="2" indent="-2540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9" hasCustomPrompt="1"/>
          </p:nvPr>
        </p:nvSpPr>
        <p:spPr>
          <a:xfrm>
            <a:off x="426720" y="0"/>
            <a:ext cx="11338560" cy="108507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10"/>
          </p:nvPr>
        </p:nvSpPr>
        <p:spPr>
          <a:xfrm>
            <a:off x="264042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11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12"/>
          </p:nvPr>
        </p:nvSpPr>
        <p:spPr>
          <a:xfrm>
            <a:off x="9184758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2"/>
            <a:ext cx="12192000" cy="3429002"/>
          </a:xfrm>
          <a:prstGeom prst="rect">
            <a:avLst/>
          </a:prstGeom>
          <a:solidFill>
            <a:srgbClr val="1F4E79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ph type="body" sz="quarter" idx="13" hasCustomPrompt="1"/>
          </p:nvPr>
        </p:nvSpPr>
        <p:spPr>
          <a:xfrm>
            <a:off x="838200" y="2211572"/>
            <a:ext cx="10515600" cy="12174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92000"/>
              </a:lnSpc>
              <a:defRPr sz="6600" b="0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6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66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tags" Target="../tags/tag16.xml"/><Relationship Id="rId11" Type="http://schemas.openxmlformats.org/officeDocument/2006/relationships/tags" Target="../tags/tag17.xml"/><Relationship Id="rId12" Type="http://schemas.openxmlformats.org/officeDocument/2006/relationships/tags" Target="../tags/tag18.xml"/><Relationship Id="rId13" Type="http://schemas.openxmlformats.org/officeDocument/2006/relationships/tags" Target="../tags/tag19.xml"/><Relationship Id="rId14" Type="http://schemas.openxmlformats.org/officeDocument/2006/relationships/tags" Target="../tags/tag20.xml"/><Relationship Id="rId15" Type="http://schemas.openxmlformats.org/officeDocument/2006/relationships/slideLayout" Target="../slideLayouts/slideLayout13.xml"/><Relationship Id="rId1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Relationship Id="rId10" Type="http://schemas.openxmlformats.org/officeDocument/2006/relationships/slideLayout" Target="../slideLayouts/slideLayout13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tags" Target="../tags/tag37.xml"/><Relationship Id="rId9" Type="http://schemas.openxmlformats.org/officeDocument/2006/relationships/tags" Target="../tags/tag38.xml"/><Relationship Id="rId10" Type="http://schemas.openxmlformats.org/officeDocument/2006/relationships/tags" Target="../tags/tag39.xml"/><Relationship Id="rId11" Type="http://schemas.openxmlformats.org/officeDocument/2006/relationships/tags" Target="../tags/tag40.xml"/><Relationship Id="rId12" Type="http://schemas.openxmlformats.org/officeDocument/2006/relationships/tags" Target="../tags/tag41.xml"/><Relationship Id="rId13" Type="http://schemas.openxmlformats.org/officeDocument/2006/relationships/slideLayout" Target="../slideLayouts/slideLayout13.xml"/><Relationship Id="rId1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Relationship Id="rId6" Type="http://schemas.openxmlformats.org/officeDocument/2006/relationships/tags" Target="../tags/tag50.xml"/><Relationship Id="rId7" Type="http://schemas.openxmlformats.org/officeDocument/2006/relationships/tags" Target="../tags/tag51.xml"/><Relationship Id="rId8" Type="http://schemas.openxmlformats.org/officeDocument/2006/relationships/tags" Target="../tags/tag52.xml"/><Relationship Id="rId9" Type="http://schemas.openxmlformats.org/officeDocument/2006/relationships/tags" Target="../tags/tag53.xml"/><Relationship Id="rId10" Type="http://schemas.openxmlformats.org/officeDocument/2006/relationships/tags" Target="../tags/tag54.xml"/><Relationship Id="rId11" Type="http://schemas.openxmlformats.org/officeDocument/2006/relationships/slideLayout" Target="../slideLayouts/slideLayout13.xml"/><Relationship Id="rId1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tags" Target="../tags/tag63.xml"/><Relationship Id="rId7" Type="http://schemas.openxmlformats.org/officeDocument/2006/relationships/tags" Target="../tags/tag64.xml"/><Relationship Id="rId8" Type="http://schemas.openxmlformats.org/officeDocument/2006/relationships/tags" Target="../tags/tag65.xml"/><Relationship Id="rId9" Type="http://schemas.openxmlformats.org/officeDocument/2006/relationships/tags" Target="../tags/tag66.xml"/><Relationship Id="rId10" Type="http://schemas.openxmlformats.org/officeDocument/2006/relationships/tags" Target="../tags/tag67.xml"/><Relationship Id="rId11" Type="http://schemas.openxmlformats.org/officeDocument/2006/relationships/tags" Target="../tags/tag68.xml"/><Relationship Id="rId12" Type="http://schemas.openxmlformats.org/officeDocument/2006/relationships/tags" Target="../tags/tag69.xml"/><Relationship Id="rId13" Type="http://schemas.openxmlformats.org/officeDocument/2006/relationships/tags" Target="../tags/tag70.xml"/><Relationship Id="rId14" Type="http://schemas.openxmlformats.org/officeDocument/2006/relationships/tags" Target="../tags/tag71.xml"/><Relationship Id="rId15" Type="http://schemas.openxmlformats.org/officeDocument/2006/relationships/tags" Target="../tags/tag72.xml"/><Relationship Id="rId16" Type="http://schemas.openxmlformats.org/officeDocument/2006/relationships/tags" Target="../tags/tag73.xml"/><Relationship Id="rId17" Type="http://schemas.openxmlformats.org/officeDocument/2006/relationships/tags" Target="../tags/tag74.xml"/><Relationship Id="rId18" Type="http://schemas.openxmlformats.org/officeDocument/2006/relationships/tags" Target="../tags/tag75.xml"/><Relationship Id="rId19" Type="http://schemas.openxmlformats.org/officeDocument/2006/relationships/tags" Target="../tags/tag76.xml"/><Relationship Id="rId20" Type="http://schemas.openxmlformats.org/officeDocument/2006/relationships/tags" Target="../tags/tag77.xml"/><Relationship Id="rId21" Type="http://schemas.openxmlformats.org/officeDocument/2006/relationships/slideLayout" Target="../slideLayouts/slideLayout13.xml"/><Relationship Id="rId2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783771" y="1733006"/>
            <a:ext cx="10914199" cy="1786164"/>
          </a:xfrm>
          <a:prstGeom prst="rect">
            <a:avLst/>
          </a:prstGeom>
        </p:spPr>
        <p:txBody>
          <a:bodyPr wrap="square" lIns="91440" tIns="45720" rIns="91440" bIns="45720" anchor="b">
            <a:normAutofit/>
          </a:bodyPr>
          <a:lstStyle>
            <a:lvl1pPr algn="ctr">
              <a:lnSpc>
                <a:spcPct val="92000"/>
              </a:lnSpc>
              <a:defRPr sz="3200" b="0" i="0" u="none" strike="noStrike" spc="0">
                <a:solidFill>
                  <a:srgbClr val="525252">
                    <a:alpha val="100000"/>
                  </a:srgbClr>
                </a:solidFill>
                <a:latin typeface="StHeiti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zh-CN" altLang="en-US" sz="3200" b="0" i="0" u="none" strike="noStrike">
                <a:solidFill>
                  <a:srgbClr val="52525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面向</a:t>
            </a:r>
            <a:r>
              <a:rPr lang="en-US" sz="3200" b="0" i="0" u="none" strike="noStrike">
                <a:solidFill>
                  <a:srgbClr val="52525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KV-Cache</a:t>
            </a:r>
            <a:r>
              <a:rPr lang="zh-CN" altLang="en-US" sz="3200" b="0" i="0" u="none" strike="noStrike">
                <a:solidFill>
                  <a:srgbClr val="52525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Times New Roman" panose="02020603050405020304"/>
              </a:rPr>
              <a:t>的</a:t>
            </a:r>
            <a:r>
              <a:rPr lang="en-US" sz="3200" b="0" i="0" u="none" strike="noStrike">
                <a:solidFill>
                  <a:srgbClr val="52525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GPU-Initiated</a:t>
            </a:r>
            <a:r>
              <a:rPr lang="en-US" sz="3200" b="0" i="0" u="none" strike="noStrike">
                <a:solidFill>
                  <a:srgbClr val="52525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直通存储</a:t>
            </a:r>
            <a:r>
              <a:rPr lang="zh-CN" altLang="en-US" sz="3200" b="0" i="0" u="none" strike="noStrike">
                <a:solidFill>
                  <a:srgbClr val="52525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黑体" panose="02010609060101010101" charset="-122"/>
              </a:rPr>
              <a:t>机制研究</a:t>
            </a:r>
            <a:endParaRPr lang="zh-CN" altLang="en-US" sz="3200" b="0" i="0" u="none" strike="noStrike">
              <a:solidFill>
                <a:srgbClr val="52525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黑体" panose="0201060906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527506" y="6273284"/>
            <a:ext cx="1512094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rPr>
              <a:t>2026/7/2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89630" y="3823970"/>
            <a:ext cx="2527935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45720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rPr>
              <a:t>汇报人：夏寒柯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772910" y="3823970"/>
            <a:ext cx="234442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45720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rPr>
              <a:t>导师：</a:t>
            </a:r>
            <a:r>
              <a:rPr lang="zh-CN" altLang="en-US" sz="1800" b="0" i="0" u="none" strike="noStrike">
                <a:solidFill>
                  <a:srgbClr val="00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rPr>
              <a:t>王芳</a:t>
            </a:r>
            <a:endParaRPr lang="zh-CN" altLang="en-US" sz="1800" b="0" i="0" u="none" strike="noStrike">
              <a:solidFill>
                <a:srgbClr val="00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仿宋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提纲</a:t>
            </a:r>
            <a:endParaRPr 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7011" y="1465724"/>
            <a:ext cx="7915708" cy="189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54000" indent="-254000" algn="l">
              <a:lnSpc>
                <a:spcPct val="150000"/>
              </a:lnSpc>
              <a:buClr>
                <a:srgbClr val="000000"/>
              </a:buClr>
              <a:buFont typeface="Wingdings" panose="05000000000000000000"/>
              <a:buChar char="l"/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研究背景</a:t>
            </a:r>
            <a:endParaRPr lang="en-US" sz="1100"/>
          </a:p>
          <a:p>
            <a:pPr marL="254000" indent="-2540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研究现状</a:t>
            </a:r>
            <a:endParaRPr lang="en-US" sz="20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</a:t>
            </a: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Baseline</a:t>
            </a:r>
            <a:r>
              <a:rPr lang="zh-CN" alt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与初步实现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研究方案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en-US" altLang="zh-CN"/>
              <a:t>2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研究背景</a:t>
            </a:r>
            <a:endParaRPr 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6720" y="1252220"/>
            <a:ext cx="2609850" cy="3987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2000" b="1" i="0" u="none" strike="noStrike">
                <a:solidFill>
                  <a:srgbClr val="000000"/>
                </a:solidFill>
                <a:effectLst>
                  <a:outerShdw blurRad="38100" dist="12700" dir="2700000" algn="tl" rotWithShape="0">
                    <a:srgbClr val="000000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大语言模型推理</a:t>
            </a:r>
            <a:endParaRPr lang="zh-CN" altLang="en-US" sz="2000" b="1" i="0" u="none" strike="noStrike">
              <a:solidFill>
                <a:srgbClr val="000000"/>
              </a:solidFill>
              <a:effectLst>
                <a:outerShdw blurRad="38100" dist="12700" dir="2700000" algn="tl" rotWithShape="0">
                  <a:srgbClr val="000000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03225" y="1943735"/>
            <a:ext cx="2658745" cy="6686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推理过程长上下文</a:t>
            </a:r>
            <a:endParaRPr lang="zh-CN" altLang="en-US" sz="1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>
            <p:custDataLst>
              <p:tags r:id="rId1"/>
            </p:custDataLst>
          </p:nvPr>
        </p:nvSpPr>
        <p:spPr>
          <a:xfrm>
            <a:off x="3382645" y="1943735"/>
            <a:ext cx="2658745" cy="6686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KV Cache</a:t>
            </a:r>
            <a:r>
              <a:rPr lang="zh-CN" alt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规模激增</a:t>
            </a:r>
            <a:endParaRPr lang="zh-CN" altLang="en-US" sz="1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6362065" y="1943735"/>
            <a:ext cx="2658745" cy="6686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SSD-Backed KV Cache</a:t>
            </a:r>
            <a:endParaRPr lang="zh-CN" altLang="en-US" sz="1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9341485" y="1943735"/>
            <a:ext cx="2658745" cy="6686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存储访问成为推理瓶颈</a:t>
            </a:r>
            <a:endParaRPr lang="zh-CN" altLang="en-US" sz="1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3715" y="3012440"/>
            <a:ext cx="5289528" cy="3186430"/>
            <a:chOff x="808" y="5234"/>
            <a:chExt cx="7410" cy="5018"/>
          </a:xfrm>
        </p:grpSpPr>
        <p:grpSp>
          <p:nvGrpSpPr>
            <p:cNvPr id="24" name="组合 23"/>
            <p:cNvGrpSpPr/>
            <p:nvPr/>
          </p:nvGrpSpPr>
          <p:grpSpPr>
            <a:xfrm>
              <a:off x="808" y="5554"/>
              <a:ext cx="7410" cy="4698"/>
              <a:chOff x="808" y="5554"/>
              <a:chExt cx="7410" cy="4698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808" y="5554"/>
                <a:ext cx="7371" cy="469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024" y="5705"/>
                <a:ext cx="7194" cy="442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上下文长度爆炸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：单次请求的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KV Cache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可达数十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GB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甚至上百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GB。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显存昂贵且有限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：单卡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HBM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容量（如80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GB）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无法同时承载多个长上下文会话的完整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KV Cache。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扩展存储层级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：将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KV Cache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GPU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显存卸载至远端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SSD，</a:t>
                </a:r>
                <a:r>
                  <a:rPr lang="zh-CN" altLang="en-US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以突破显存容量限制，实现显存扩展。</a:t>
                </a:r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1775" y="5234"/>
              <a:ext cx="5090" cy="595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</a:rPr>
                <a:t> Why SSD-backed KV Cache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087110" y="3006090"/>
            <a:ext cx="5261610" cy="3192780"/>
            <a:chOff x="808" y="5234"/>
            <a:chExt cx="7371" cy="4151"/>
          </a:xfrm>
        </p:grpSpPr>
        <p:grpSp>
          <p:nvGrpSpPr>
            <p:cNvPr id="28" name="组合 27"/>
            <p:cNvGrpSpPr/>
            <p:nvPr/>
          </p:nvGrpSpPr>
          <p:grpSpPr>
            <a:xfrm>
              <a:off x="808" y="5554"/>
              <a:ext cx="7371" cy="3831"/>
              <a:chOff x="808" y="5554"/>
              <a:chExt cx="7371" cy="3831"/>
            </a:xfrm>
          </p:grpSpPr>
          <p:sp>
            <p:nvSpPr>
              <p:cNvPr id="29" name="圆角矩形 28"/>
              <p:cNvSpPr/>
              <p:nvPr/>
            </p:nvSpPr>
            <p:spPr>
              <a:xfrm>
                <a:off x="808" y="5554"/>
                <a:ext cx="7371" cy="383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073" y="5715"/>
                <a:ext cx="6945" cy="327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访问模式变化：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KV Cache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访问从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GPU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内部显存操作，转变为跨存储层的数据迁移（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SSD→CPU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内存→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GPU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显存）。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b="1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SSD</a:t>
                </a:r>
                <a:r>
                  <a:rPr lang="zh-CN" altLang="en-US" b="1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随机读取性能差：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Decode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阶段需要按需访问历史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KV，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产生大量细粒度、非连续的随机读取请求，严重降低</a:t>
                </a:r>
                <a:r>
                  <a:rPr lang="en-US" altLang="zh-CN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SSD</a:t>
                </a:r>
                <a:r>
                  <a:rPr lang="zh-CN" altLang="en-US">
                    <a:solidFill>
                      <a:schemeClr val="tx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有效带宽。</a:t>
                </a:r>
                <a:endParaRPr lang="en-US" altLang="zh-CN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数据搬运成为新瓶颈</a:t>
                </a:r>
                <a:r>
                  <a:rPr lang="zh-CN" altLang="en-US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PCIe</a:t>
                </a:r>
                <a:r>
                  <a:rPr lang="zh-CN" altLang="en-US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数据传输开销显著，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GPU</a:t>
                </a:r>
                <a:r>
                  <a:rPr lang="zh-CN" altLang="en-US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在等待数据从</a:t>
                </a:r>
                <a:r>
                  <a:rPr lang="en-US" altLang="zh-CN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SSD</a:t>
                </a:r>
                <a:r>
                  <a:rPr lang="zh-CN" altLang="en-US"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到达，导致计算单元空转，端到端延迟增加。</a:t>
                </a:r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2262" y="5234"/>
              <a:ext cx="4806" cy="499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</a:rPr>
                <a:t>SSD-backend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</a:rPr>
                <a:t>带来的新的问题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" name="直接箭头连接符 3"/>
          <p:cNvCxnSpPr>
            <a:stCxn id="7" idx="3"/>
            <a:endCxn id="8" idx="1"/>
          </p:cNvCxnSpPr>
          <p:nvPr>
            <p:custDataLst>
              <p:tags r:id="rId4"/>
            </p:custDataLst>
          </p:nvPr>
        </p:nvCxnSpPr>
        <p:spPr>
          <a:xfrm>
            <a:off x="3061970" y="2278380"/>
            <a:ext cx="3206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>
            <p:custDataLst>
              <p:tags r:id="rId5"/>
            </p:custDataLst>
          </p:nvPr>
        </p:nvCxnSpPr>
        <p:spPr>
          <a:xfrm>
            <a:off x="6041390" y="2278380"/>
            <a:ext cx="3206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6"/>
            </p:custDataLst>
          </p:nvPr>
        </p:nvCxnSpPr>
        <p:spPr>
          <a:xfrm>
            <a:off x="9020810" y="2278380"/>
            <a:ext cx="32067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xfrm>
            <a:off x="520065" y="0"/>
            <a:ext cx="11338560" cy="1085074"/>
          </a:xfrm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推理流程</a:t>
            </a:r>
            <a:endParaRPr lang="zh-CN" alt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14655" y="1308735"/>
            <a:ext cx="6672203" cy="368300"/>
            <a:chOff x="745" y="1709"/>
            <a:chExt cx="15532" cy="580"/>
          </a:xfrm>
        </p:grpSpPr>
        <p:sp>
          <p:nvSpPr>
            <p:cNvPr id="9" name="矩形 8"/>
            <p:cNvSpPr/>
            <p:nvPr/>
          </p:nvSpPr>
          <p:spPr>
            <a:xfrm>
              <a:off x="745" y="1869"/>
              <a:ext cx="288" cy="274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77" y="1709"/>
              <a:ext cx="151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800" b="1">
                  <a:latin typeface="微软雅黑" panose="020B0503020204020204" charset="-122"/>
                  <a:ea typeface="微软雅黑" panose="020B0503020204020204" charset="-122"/>
                </a:rPr>
                <a:t>KV Cache </a:t>
              </a:r>
              <a:r>
                <a:rPr lang="zh-CN" altLang="en-US" sz="1800" b="1">
                  <a:latin typeface="微软雅黑" panose="020B0503020204020204" charset="-122"/>
                  <a:ea typeface="微软雅黑" panose="020B0503020204020204" charset="-122"/>
                </a:rPr>
                <a:t>推理链路对比</a:t>
              </a:r>
              <a:endParaRPr lang="zh-CN" altLang="en-US" sz="18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338455" y="5751830"/>
            <a:ext cx="11578590" cy="55435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长下文场景下，</a:t>
            </a:r>
            <a:r>
              <a:rPr lang="en-US" altLang="zh-CN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SSD </a:t>
            </a:r>
            <a:r>
              <a:rPr lang="zh-CN" altLang="en-US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扩展了 </a:t>
            </a:r>
            <a:r>
              <a:rPr lang="en-US" altLang="zh-CN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 Cache </a:t>
            </a:r>
            <a:r>
              <a:rPr lang="zh-CN" altLang="en-US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容量上限，却将推理瓶颈从“显存容量”转移至“存储 </a:t>
            </a:r>
            <a:r>
              <a:rPr lang="en-US" altLang="zh-CN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</a:t>
            </a:r>
            <a:r>
              <a:rPr lang="zh-CN" altLang="en-US" sz="1800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带宽”</a:t>
            </a:r>
            <a:endParaRPr lang="zh-CN" altLang="en-US" sz="1800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557905" y="2219960"/>
            <a:ext cx="2020570" cy="101409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HBM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14655" y="2221230"/>
            <a:ext cx="1650365" cy="10217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14655" y="174942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HBM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285355" y="2230120"/>
            <a:ext cx="2020570" cy="101282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到计算单元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698990" y="2221230"/>
            <a:ext cx="2020570" cy="10217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生成下一个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58085" y="4229100"/>
            <a:ext cx="2020570" cy="101409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SSD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14655" y="4220845"/>
            <a:ext cx="1650365" cy="10217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14655" y="374904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SSD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871720" y="4229100"/>
            <a:ext cx="2020570" cy="10147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SSD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 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HBM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9698990" y="4207510"/>
            <a:ext cx="2020570" cy="10426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生成下一个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285355" y="4229735"/>
            <a:ext cx="2020570" cy="10140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Decode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HBM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读取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到计算单元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73" name="直接箭头连接符 72"/>
          <p:cNvCxnSpPr>
            <a:stCxn id="48" idx="3"/>
            <a:endCxn id="47" idx="1"/>
          </p:cNvCxnSpPr>
          <p:nvPr/>
        </p:nvCxnSpPr>
        <p:spPr>
          <a:xfrm flipV="1">
            <a:off x="2065020" y="2727325"/>
            <a:ext cx="1492885" cy="50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endCxn id="51" idx="1"/>
          </p:cNvCxnSpPr>
          <p:nvPr/>
        </p:nvCxnSpPr>
        <p:spPr>
          <a:xfrm flipV="1">
            <a:off x="5600700" y="2736850"/>
            <a:ext cx="168465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68" idx="3"/>
            <a:endCxn id="53" idx="1"/>
          </p:cNvCxnSpPr>
          <p:nvPr/>
        </p:nvCxnSpPr>
        <p:spPr>
          <a:xfrm>
            <a:off x="2065020" y="4732020"/>
            <a:ext cx="393065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53" idx="3"/>
            <a:endCxn id="70" idx="1"/>
          </p:cNvCxnSpPr>
          <p:nvPr/>
        </p:nvCxnSpPr>
        <p:spPr>
          <a:xfrm>
            <a:off x="4478655" y="4736465"/>
            <a:ext cx="39306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70" idx="3"/>
            <a:endCxn id="72" idx="1"/>
          </p:cNvCxnSpPr>
          <p:nvPr/>
        </p:nvCxnSpPr>
        <p:spPr>
          <a:xfrm>
            <a:off x="6892290" y="4736465"/>
            <a:ext cx="39306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72" idx="3"/>
            <a:endCxn id="71" idx="1"/>
          </p:cNvCxnSpPr>
          <p:nvPr/>
        </p:nvCxnSpPr>
        <p:spPr>
          <a:xfrm flipV="1">
            <a:off x="9305925" y="4728845"/>
            <a:ext cx="39306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灯片编号占位符 80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cxnSp>
        <p:nvCxnSpPr>
          <p:cNvPr id="82" name="直接箭头连接符 81"/>
          <p:cNvCxnSpPr/>
          <p:nvPr/>
        </p:nvCxnSpPr>
        <p:spPr>
          <a:xfrm flipV="1">
            <a:off x="9305925" y="2727325"/>
            <a:ext cx="393065" cy="8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长上下文推理开销</a:t>
            </a:r>
            <a:endParaRPr 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044055" y="1782445"/>
            <a:ext cx="4538345" cy="1999615"/>
            <a:chOff x="904" y="1975"/>
            <a:chExt cx="8882" cy="3504"/>
          </a:xfrm>
        </p:grpSpPr>
        <p:sp>
          <p:nvSpPr>
            <p:cNvPr id="3" name="文本框 2"/>
            <p:cNvSpPr txBox="1"/>
            <p:nvPr/>
          </p:nvSpPr>
          <p:spPr>
            <a:xfrm>
              <a:off x="1060" y="2247"/>
              <a:ext cx="8541" cy="32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长上下文场景下，单条请求从 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HBM 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常驻到 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SSD-backed 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恢复，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decode I/O 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开销显著上升；当上下文继续增长并超过 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GPU KV 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容量时，完整驻留路径直接失效，说明仅靠 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HBM 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已难以支撑更长上下文的推理。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04" y="1975"/>
              <a:ext cx="8882" cy="3503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 rot="0">
            <a:off x="426720" y="1151255"/>
            <a:ext cx="5828030" cy="3467100"/>
            <a:chOff x="1116" y="2466"/>
            <a:chExt cx="8930" cy="5661"/>
          </a:xfrm>
        </p:grpSpPr>
        <p:sp>
          <p:nvSpPr>
            <p:cNvPr id="31" name="Rounded Rectangle 4"/>
            <p:cNvSpPr/>
            <p:nvPr/>
          </p:nvSpPr>
          <p:spPr>
            <a:xfrm>
              <a:off x="1116" y="2466"/>
              <a:ext cx="8930" cy="5661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B4CD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>
                <a:defRPr sz="1600" b="0">
                  <a:solidFill>
                    <a:srgbClr val="232323"/>
                  </a:solidFill>
                  <a:latin typeface="微软雅黑" panose="020B0503020204020204" charset="-122"/>
                </a:defRPr>
              </a:pPr>
            </a:p>
          </p:txBody>
        </p:sp>
        <p:sp>
          <p:nvSpPr>
            <p:cNvPr id="33" name="TextBox 5"/>
            <p:cNvSpPr txBox="1"/>
            <p:nvPr/>
          </p:nvSpPr>
          <p:spPr>
            <a:xfrm>
              <a:off x="1326" y="2619"/>
              <a:ext cx="8317" cy="439"/>
            </a:xfrm>
            <a:prstGeom prst="rect">
              <a:avLst/>
            </a:prstGeom>
            <a:noFill/>
          </p:spPr>
          <p:txBody>
            <a:bodyPr wrap="square" lIns="27432" tIns="9144" rIns="27432" bIns="9144">
              <a:noAutofit/>
            </a:bodyPr>
            <a:lstStyle/>
            <a:p>
              <a:pPr algn="ctr">
                <a:defRPr sz="1520" b="1">
                  <a:solidFill>
                    <a:srgbClr val="0C2A55"/>
                  </a:solidFill>
                  <a:latin typeface="微软雅黑" panose="020B0503020204020204" charset="-122"/>
                </a:defRPr>
              </a:pPr>
              <a:r>
                <a:rPr lang="en-US">
                  <a:solidFill>
                    <a:srgbClr val="0B2D5B"/>
                  </a:solidFill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LLM </a:t>
              </a:r>
              <a:r>
                <a:rPr lang="zh-CN" altLang="en-US">
                  <a:solidFill>
                    <a:srgbClr val="0B2D5B"/>
                  </a:solidFill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一次</a:t>
              </a:r>
              <a:r>
                <a:rPr lang="en-US" altLang="zh-CN">
                  <a:solidFill>
                    <a:srgbClr val="0B2D5B"/>
                  </a:solidFill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 decode IO </a:t>
              </a:r>
              <a:r>
                <a:rPr lang="zh-CN" altLang="en-US">
                  <a:solidFill>
                    <a:srgbClr val="0B2D5B"/>
                  </a:solidFill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耗时对比</a:t>
              </a:r>
              <a:r>
                <a:rPr lang="en-US" altLang="zh-CN">
                  <a:solidFill>
                    <a:srgbClr val="0B2D5B"/>
                  </a:solidFill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 (ms)</a:t>
              </a:r>
              <a:endParaRPr lang="zh-CN" altLang="en-US" b="1" i="0" u="none" strike="noStrike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algn="ctr">
                <a:defRPr sz="1520" b="1">
                  <a:solidFill>
                    <a:srgbClr val="0C2A55"/>
                  </a:solidFill>
                  <a:latin typeface="微软雅黑" panose="020B0503020204020204" charset="-122"/>
                </a:defRPr>
              </a:p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4" name="图表 3"/>
          <p:cNvGraphicFramePr/>
          <p:nvPr/>
        </p:nvGraphicFramePr>
        <p:xfrm>
          <a:off x="563880" y="1517015"/>
          <a:ext cx="5531485" cy="3101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563880" y="5134610"/>
          <a:ext cx="85318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tokens</a:t>
                      </a:r>
                      <a:endParaRPr lang="en-US" altLang="zh-CN" sz="1800"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容量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Decode IO / 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(ms)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HBM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完整驻留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KV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4096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4160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4.757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SSD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写回后恢复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4096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4160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60.402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单请求超过</a:t>
                      </a: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HBM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上限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4224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4160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-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提纲</a:t>
            </a:r>
            <a:endParaRPr 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7011" y="1789574"/>
            <a:ext cx="7915708" cy="18453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研究背景</a:t>
            </a:r>
            <a:endParaRPr lang="en-US" sz="1100"/>
          </a:p>
          <a:p>
            <a:pPr marL="254000" indent="-254000" algn="l">
              <a:lnSpc>
                <a:spcPct val="150000"/>
              </a:lnSpc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研究现状</a:t>
            </a:r>
            <a:endParaRPr lang="en-US" sz="20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</a:t>
            </a: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Baseline</a:t>
            </a:r>
            <a:r>
              <a:rPr lang="zh-CN" alt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与初步实现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研究方案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561727" y="1776311"/>
            <a:ext cx="3125804" cy="3799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5871081" y="21113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802705" y="1945396"/>
            <a:ext cx="2664296" cy="576064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GPU KV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管理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4583125" y="1937816"/>
            <a:ext cx="2664296" cy="576064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CPU-centric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分层 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KV Offload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8448798" y="1945396"/>
            <a:ext cx="2664296" cy="576064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SSD-backed KV Cache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02705" y="2714603"/>
            <a:ext cx="2664296" cy="8966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Orca（OSDI 2022）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vLLM（SOSP 2023）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矩形: 圆角 11"/>
          <p:cNvSpPr/>
          <p:nvPr>
            <p:custDataLst>
              <p:tags r:id="rId6"/>
            </p:custDataLst>
          </p:nvPr>
        </p:nvSpPr>
        <p:spPr>
          <a:xfrm>
            <a:off x="4295775" y="2630170"/>
            <a:ext cx="3314700" cy="9810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Mooncake（FAST 2025）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LMCache（arXiv 2025）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FlexGen（ICML 2023）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CacheGen（SIGCOMM 2024）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8250555" y="2714625"/>
            <a:ext cx="3061970" cy="8108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SolidAttention（FAST 2026）TARDIS（APSys 2025）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732446" y="3676168"/>
            <a:ext cx="2916324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  <a:sym typeface="+mn-ea"/>
              </a:rPr>
              <a:t>PagedAttention</a:t>
            </a:r>
            <a:endParaRPr lang="en-US" altLang="zh-CN" sz="1800" b="0" dirty="0">
              <a:solidFill>
                <a:srgbClr val="262626"/>
              </a:solidFill>
              <a:latin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0" dirty="0">
                <a:solidFill>
                  <a:srgbClr val="262626"/>
                </a:solidFill>
                <a:latin typeface="微软雅黑" panose="020B0503020204020204" charset="-122"/>
              </a:rPr>
              <a:t>KV Cache </a:t>
            </a:r>
            <a:r>
              <a:rPr lang="zh-CN" altLang="en-US" sz="1800" b="0" dirty="0">
                <a:solidFill>
                  <a:srgbClr val="262626"/>
                </a:solidFill>
                <a:latin typeface="微软雅黑" panose="020B0503020204020204" charset="-122"/>
              </a:rPr>
              <a:t>常驻 </a:t>
            </a:r>
            <a:r>
              <a:rPr lang="en-US" altLang="zh-CN" sz="1800" b="0" dirty="0">
                <a:solidFill>
                  <a:srgbClr val="262626"/>
                </a:solidFill>
                <a:latin typeface="微软雅黑" panose="020B0503020204020204" charset="-122"/>
              </a:rPr>
              <a:t>GPU，</a:t>
            </a:r>
            <a:r>
              <a:rPr lang="zh-CN" altLang="en-US" sz="1800" b="0" dirty="0">
                <a:solidFill>
                  <a:srgbClr val="262626"/>
                </a:solidFill>
                <a:latin typeface="微软雅黑" panose="020B0503020204020204" charset="-122"/>
              </a:rPr>
              <a:t>优化显存碎片与 </a:t>
            </a:r>
            <a:r>
              <a:rPr lang="en-US" altLang="zh-CN" sz="1800" b="0" dirty="0">
                <a:solidFill>
                  <a:srgbClr val="262626"/>
                </a:solidFill>
                <a:latin typeface="微软雅黑" panose="020B0503020204020204" charset="-122"/>
              </a:rPr>
              <a:t>batch </a:t>
            </a:r>
            <a:r>
              <a:rPr lang="zh-CN" altLang="en-US" sz="1800" b="0" dirty="0">
                <a:solidFill>
                  <a:srgbClr val="262626"/>
                </a:solidFill>
                <a:latin typeface="微软雅黑" panose="020B0503020204020204" charset="-122"/>
              </a:rPr>
              <a:t>调度</a:t>
            </a:r>
            <a:endParaRPr lang="en-US" altLang="zh-CN" sz="1800" b="0" dirty="0">
              <a:solidFill>
                <a:srgbClr val="262626"/>
              </a:solidFill>
              <a:latin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4219871" y="1776312"/>
            <a:ext cx="3495602" cy="37997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161432" y="1765516"/>
            <a:ext cx="3275858" cy="37997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4296068" y="3722335"/>
            <a:ext cx="3457917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• KV 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扩展到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CPU DRAM / SSD，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由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CPU 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组织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restore、swap、cache reuse</a:t>
            </a:r>
            <a:endParaRPr lang="en-US" altLang="zh-CN" sz="1800" dirty="0">
              <a:solidFill>
                <a:srgbClr val="262626"/>
              </a:solidFill>
              <a:latin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8247380" y="3611880"/>
            <a:ext cx="2985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• 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将历史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KV 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下沉到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SSD，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命中后按需恢复到 </a:t>
            </a:r>
            <a:r>
              <a:rPr lang="en-US" altLang="zh-CN" sz="1800" dirty="0">
                <a:solidFill>
                  <a:srgbClr val="262626"/>
                </a:solidFill>
                <a:latin typeface="微软雅黑" panose="020B0503020204020204" charset="-122"/>
              </a:rPr>
              <a:t>GPU，</a:t>
            </a:r>
            <a:r>
              <a:rPr lang="zh-CN" altLang="en-US" sz="1800" dirty="0">
                <a:solidFill>
                  <a:srgbClr val="262626"/>
                </a:solidFill>
                <a:latin typeface="微软雅黑" panose="020B0503020204020204" charset="-122"/>
              </a:rPr>
              <a:t>扩展可服务上下文长度和会话规模</a:t>
            </a:r>
            <a:endParaRPr lang="zh-CN" altLang="en-US" sz="1800" dirty="0">
              <a:solidFill>
                <a:srgbClr val="262626"/>
              </a:solidFill>
              <a:latin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研究现状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6716" y="1244506"/>
            <a:ext cx="877463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KV Cache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的存储端发展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4" name="右箭头 3"/>
          <p:cNvSpPr/>
          <p:nvPr>
            <p:custDataLst>
              <p:tags r:id="rId13"/>
            </p:custDataLst>
          </p:nvPr>
        </p:nvSpPr>
        <p:spPr>
          <a:xfrm>
            <a:off x="3768090" y="3547110"/>
            <a:ext cx="415925" cy="2768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>
            <p:custDataLst>
              <p:tags r:id="rId14"/>
            </p:custDataLst>
          </p:nvPr>
        </p:nvSpPr>
        <p:spPr>
          <a:xfrm>
            <a:off x="7740650" y="3502660"/>
            <a:ext cx="415925" cy="2768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61975" y="5779770"/>
            <a:ext cx="3105785" cy="4946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dirty="0">
                <a:sym typeface="+mn-ea"/>
              </a:rPr>
              <a:t>受 </a:t>
            </a:r>
            <a:r>
              <a:rPr lang="en-US" altLang="zh-CN" dirty="0">
                <a:sym typeface="+mn-ea"/>
              </a:rPr>
              <a:t>HBM </a:t>
            </a:r>
            <a:r>
              <a:rPr lang="zh-CN" altLang="en-US" dirty="0">
                <a:sym typeface="+mn-ea"/>
              </a:rPr>
              <a:t>容量限制，长上下文和多轮会话难扩展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229735" y="5779770"/>
            <a:ext cx="3484880" cy="4946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dirty="0">
                <a:sym typeface="+mn-ea"/>
              </a:rPr>
              <a:t>SSD I/O </a:t>
            </a:r>
            <a:r>
              <a:rPr lang="zh-CN" altLang="en-US" dirty="0">
                <a:sym typeface="+mn-ea"/>
              </a:rPr>
              <a:t>进入关键路径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56575" y="5779770"/>
            <a:ext cx="3280410" cy="4946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dirty="0">
                <a:sym typeface="+mn-ea"/>
              </a:rPr>
              <a:t>SSD restore </a:t>
            </a:r>
            <a:r>
              <a:rPr lang="zh-CN" altLang="en-US" dirty="0">
                <a:sym typeface="+mn-ea"/>
              </a:rPr>
              <a:t>成为新 </a:t>
            </a:r>
            <a:r>
              <a:rPr lang="en-US" altLang="zh-CN" dirty="0">
                <a:sym typeface="+mn-ea"/>
              </a:rPr>
              <a:t>I/O </a:t>
            </a:r>
            <a:r>
              <a:rPr lang="zh-CN" altLang="en-US" dirty="0">
                <a:sym typeface="+mn-ea"/>
              </a:rPr>
              <a:t>瓶颈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5871081" y="21113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研究现状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631825" y="5504815"/>
            <a:ext cx="10927080" cy="701040"/>
          </a:xfrm>
          <a:prstGeom prst="rect">
            <a:avLst/>
          </a:prstGeom>
          <a:solidFill>
            <a:schemeClr val="bg1"/>
          </a:solidFill>
          <a:ln w="15240">
            <a:solidFill>
              <a:srgbClr val="BBD7F6"/>
            </a:solidFill>
          </a:ln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归纳：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最新的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GDS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机制已经可以支持在细粒度随机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IO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的场景下发挥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SSD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带宽优势，但仍缺乏针对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KV Cache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的细粒度随机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IO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的泛用异步管理机制与调度方案</a:t>
            </a:r>
            <a:endParaRPr lang="zh-CN" altLang="en-US" sz="1600" b="1" dirty="0" err="1">
              <a:solidFill>
                <a:srgbClr val="0B2D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7103745" y="3101340"/>
            <a:ext cx="2514600" cy="2331720"/>
            <a:chOff x="13882" y="3175"/>
            <a:chExt cx="3960" cy="3673"/>
          </a:xfrm>
        </p:grpSpPr>
        <p:sp>
          <p:nvSpPr>
            <p:cNvPr id="24" name="Text 10"/>
            <p:cNvSpPr/>
            <p:nvPr/>
          </p:nvSpPr>
          <p:spPr>
            <a:xfrm>
              <a:off x="13882" y="3175"/>
              <a:ext cx="3960" cy="367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6DB2"/>
              </a:solidFill>
            </a:ln>
          </p:spPr>
          <p:txBody>
            <a:bodyPr wrap="square" lIns="1524" tIns="1524" rIns="1524" bIns="1524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Font typeface="Arial" panose="020B0604020202020204" pitchFamily="34" charset="0"/>
                <a:buNone/>
              </a:pPr>
              <a:endParaRPr lang="en-US" altLang="zh-CN" sz="12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>
                <a:buFont typeface="Arial" panose="020B0604020202020204" pitchFamily="34" charset="0"/>
                <a:buNone/>
              </a:pPr>
              <a:r>
                <a:rPr lang="en-US" altLang="zh-CN" sz="12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BaM（ASPLOS 2023）</a:t>
              </a:r>
              <a:endParaRPr lang="en-US" altLang="zh-CN" sz="12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>
                <a:buFont typeface="Arial" panose="020B0604020202020204" pitchFamily="34" charset="0"/>
                <a:buNone/>
              </a:pPr>
              <a:r>
                <a:rPr lang="en-US" altLang="zh-CN" sz="12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GeminiFS（FAST 2025）</a:t>
              </a:r>
              <a:endParaRPr lang="en-US" altLang="zh-CN" sz="12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ctr">
                <a:buFont typeface="Arial" panose="020B0604020202020204" pitchFamily="34" charset="0"/>
                <a:buNone/>
              </a:pP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控制平面下沉到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GPU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细粒度、高并发、可调度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4286" y="3290"/>
              <a:ext cx="3145" cy="846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sz="1800" dirty="0" err="1">
                  <a:solidFill>
                    <a:srgbClr val="1F1F1F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GPU-initiated direct storage</a:t>
              </a:r>
              <a:endParaRPr lang="en-US" altLang="zh-CN" sz="1800" dirty="0">
                <a:solidFill>
                  <a:srgbClr val="1F1F1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68045" y="1737995"/>
            <a:ext cx="2514600" cy="1632585"/>
            <a:chOff x="1196" y="3175"/>
            <a:chExt cx="3960" cy="3672"/>
          </a:xfrm>
        </p:grpSpPr>
        <p:sp>
          <p:nvSpPr>
            <p:cNvPr id="8" name="Text 6"/>
            <p:cNvSpPr/>
            <p:nvPr/>
          </p:nvSpPr>
          <p:spPr>
            <a:xfrm>
              <a:off x="1196" y="3175"/>
              <a:ext cx="3960" cy="367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6DB2"/>
              </a:solidFill>
            </a:ln>
          </p:spPr>
          <p:txBody>
            <a:bodyPr wrap="square" lIns="1524" tIns="1524" rIns="1524" bIns="1524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zh-CN" sz="1400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endParaRPr>
            </a:p>
            <a:p>
              <a:pPr indent="0" algn="ctr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en-US" altLang="zh-CN" sz="1600" dirty="0">
                  <a:solidFill>
                    <a:srgbClr val="262626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Pytorch</a:t>
              </a:r>
              <a:endParaRPr lang="en-US" altLang="zh-CN" sz="1600" dirty="0">
                <a:solidFill>
                  <a:srgbClr val="26262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  <a:p>
              <a:pPr indent="0" algn="ctr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en-US" altLang="zh-CN" sz="1600" dirty="0">
                  <a:solidFill>
                    <a:srgbClr val="262626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  <a:sym typeface="+mn-ea"/>
                </a:rPr>
                <a:t>LMCache (</a:t>
              </a:r>
              <a:r>
                <a:rPr lang="en-US" altLang="zh-CN" sz="1600" dirty="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arXiv 2025)</a:t>
              </a:r>
              <a:endParaRPr lang="zh-CN" altLang="en-US" sz="1600" dirty="0">
                <a:solidFill>
                  <a:srgbClr val="262626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endParaRPr>
            </a:p>
            <a:p>
              <a:pPr marL="285750" indent="-285750" algn="ct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262626"/>
                  </a:solidFill>
                  <a:latin typeface="微软雅黑" panose="020B0503020204020204" charset="-122"/>
                  <a:ea typeface="宋体" panose="02010600030101010101" pitchFamily="2" charset="-122"/>
                  <a:sym typeface="+mn-ea"/>
                </a:rPr>
                <a:t>最通用的</a:t>
              </a:r>
              <a:r>
                <a:rPr lang="en-US" altLang="zh-CN" sz="1400" dirty="0">
                  <a:solidFill>
                    <a:srgbClr val="262626"/>
                  </a:solidFill>
                  <a:latin typeface="微软雅黑" panose="020B0503020204020204" charset="-122"/>
                  <a:ea typeface="宋体" panose="02010600030101010101" pitchFamily="2" charset="-122"/>
                  <a:sym typeface="+mn-ea"/>
                </a:rPr>
                <a:t>SSD IO</a:t>
              </a:r>
              <a:r>
                <a:rPr lang="zh-CN" altLang="en-US" sz="1400" dirty="0">
                  <a:solidFill>
                    <a:srgbClr val="262626"/>
                  </a:solidFill>
                  <a:latin typeface="微软雅黑" panose="020B0503020204020204" charset="-122"/>
                  <a:ea typeface="宋体" panose="02010600030101010101" pitchFamily="2" charset="-122"/>
                  <a:sym typeface="+mn-ea"/>
                </a:rPr>
                <a:t>通路</a:t>
              </a:r>
              <a:endParaRPr lang="zh-CN" altLang="en-US" sz="1400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endParaRPr>
            </a:p>
            <a:p>
              <a:pPr marL="285750" indent="-285750" algn="ct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rgbClr val="262626"/>
                  </a:solidFill>
                  <a:latin typeface="微软雅黑" panose="020B0503020204020204" charset="-122"/>
                  <a:ea typeface="宋体" panose="02010600030101010101" pitchFamily="2" charset="-122"/>
                  <a:sym typeface="+mn-ea"/>
                </a:rPr>
                <a:t>CPU</a:t>
              </a:r>
              <a:r>
                <a:rPr lang="zh-CN" altLang="en-US" sz="1400" dirty="0">
                  <a:solidFill>
                    <a:srgbClr val="262626"/>
                  </a:solidFill>
                  <a:latin typeface="微软雅黑" panose="020B0503020204020204" charset="-122"/>
                  <a:ea typeface="宋体" panose="02010600030101010101" pitchFamily="2" charset="-122"/>
                  <a:sym typeface="+mn-ea"/>
                </a:rPr>
                <a:t>拷贝和同步开销大</a:t>
              </a:r>
              <a:endParaRPr 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04" y="3325"/>
              <a:ext cx="3145" cy="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zh-CN" sz="1800" dirty="0" err="1">
                  <a:solidFill>
                    <a:srgbClr val="1F1F1F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  <a:sym typeface="+mn-ea"/>
                </a:rPr>
                <a:t>SSD-&gt;CPU-&gt;GPU</a:t>
              </a:r>
              <a:endParaRPr lang="en-US" altLang="zh-CN" sz="1800" dirty="0">
                <a:solidFill>
                  <a:srgbClr val="1F1F1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68045" y="3552190"/>
            <a:ext cx="2514600" cy="1632585"/>
            <a:chOff x="5559" y="3175"/>
            <a:chExt cx="3960" cy="3672"/>
          </a:xfrm>
        </p:grpSpPr>
        <p:sp>
          <p:nvSpPr>
            <p:cNvPr id="14" name="Text 8"/>
            <p:cNvSpPr/>
            <p:nvPr/>
          </p:nvSpPr>
          <p:spPr>
            <a:xfrm>
              <a:off x="5559" y="3175"/>
              <a:ext cx="3960" cy="367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6DB2"/>
              </a:solidFill>
            </a:ln>
          </p:spPr>
          <p:txBody>
            <a:bodyPr wrap="square" lIns="1524" tIns="1524" rIns="1524" bIns="1524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400" dirty="0"/>
            </a:p>
            <a:p>
              <a:pPr algn="ctr">
                <a:lnSpc>
                  <a:spcPct val="150000"/>
                </a:lnSpc>
              </a:pPr>
              <a:r>
                <a:rPr lang="en-US" sz="1400" dirty="0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• </a:t>
              </a: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去除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CPU memory</a:t>
              </a: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中转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数据直接由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SSD</a:t>
              </a: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传输到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GPU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ct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967" y="3325"/>
              <a:ext cx="3145" cy="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 err="1">
                  <a:solidFill>
                    <a:srgbClr val="1F1F1F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  <a:sym typeface="+mn-ea"/>
                </a:rPr>
                <a:t>GDS</a:t>
              </a:r>
              <a:endParaRPr lang="en-US" altLang="zh-CN" sz="1800" dirty="0">
                <a:solidFill>
                  <a:srgbClr val="1F1F1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361950" y="1176655"/>
            <a:ext cx="8774430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基于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SSD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的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I/O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链路发展</a:t>
            </a:r>
            <a:endParaRPr lang="en-US" sz="2800" b="1" dirty="0"/>
          </a:p>
          <a:p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03745" y="1294765"/>
            <a:ext cx="2514600" cy="1632585"/>
            <a:chOff x="5559" y="3175"/>
            <a:chExt cx="3960" cy="3672"/>
          </a:xfrm>
        </p:grpSpPr>
        <p:sp>
          <p:nvSpPr>
            <p:cNvPr id="4" name="Text 8"/>
            <p:cNvSpPr/>
            <p:nvPr/>
          </p:nvSpPr>
          <p:spPr>
            <a:xfrm>
              <a:off x="5559" y="3175"/>
              <a:ext cx="3960" cy="367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6DB2"/>
              </a:solidFill>
            </a:ln>
          </p:spPr>
          <p:txBody>
            <a:bodyPr wrap="square" lIns="1524" tIns="1524" rIns="1524" bIns="1524" rtlCol="0" anchor="ctr">
              <a:norm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/>
                <a:t>Nvidia GDS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/>
                <a:t>CAM(</a:t>
              </a:r>
              <a:r>
                <a:rPr lang="en-US" altLang="zh-CN" sz="1400" dirty="0"/>
                <a:t>ICDE 2025</a:t>
              </a:r>
              <a:r>
                <a:rPr lang="en-US" sz="1400" dirty="0"/>
                <a:t>)</a:t>
              </a:r>
              <a:endParaRPr lang="en-US" sz="1400" dirty="0"/>
            </a:p>
            <a:p>
              <a:pPr marL="285750" indent="-285750" algn="ct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控制平面仍然在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CPU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285750" indent="-285750" algn="ct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小粒度随机</a:t>
              </a:r>
              <a:r>
                <a:rPr lang="en-US" altLang="zh-CN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IO</a:t>
              </a:r>
              <a:r>
                <a:rPr lang="zh-CN" altLang="en-US" sz="1400" dirty="0" err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</a:rPr>
                <a:t>控制面较重</a:t>
              </a:r>
              <a:endParaRPr lang="zh-CN" altLang="en-US" sz="1400" dirty="0" err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967" y="3325"/>
              <a:ext cx="3145" cy="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 err="1">
                  <a:solidFill>
                    <a:srgbClr val="1F1F1F"/>
                  </a:solidFill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  <a:sym typeface="+mn-ea"/>
                </a:rPr>
                <a:t>CPU-Centric GDS</a:t>
              </a:r>
              <a:endParaRPr lang="en-US" altLang="zh-CN" sz="1800" dirty="0">
                <a:solidFill>
                  <a:srgbClr val="1F1F1F"/>
                </a:solidFill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cxnSp>
        <p:nvCxnSpPr>
          <p:cNvPr id="6" name="直接箭头连接符 5"/>
          <p:cNvCxnSpPr>
            <a:stCxn id="14" idx="3"/>
          </p:cNvCxnSpPr>
          <p:nvPr/>
        </p:nvCxnSpPr>
        <p:spPr>
          <a:xfrm flipV="1">
            <a:off x="3382645" y="2087880"/>
            <a:ext cx="3654425" cy="2280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endCxn id="24" idx="1"/>
          </p:cNvCxnSpPr>
          <p:nvPr/>
        </p:nvCxnSpPr>
        <p:spPr>
          <a:xfrm flipV="1">
            <a:off x="3415665" y="4267200"/>
            <a:ext cx="3688080" cy="83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262890" y="1235075"/>
            <a:ext cx="3496310" cy="51225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5871081" y="21113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564515" y="1404620"/>
            <a:ext cx="2664460" cy="643890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Layer-wise Prefetch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4424045" y="1397000"/>
            <a:ext cx="2664460" cy="643890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Sparse Attention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12420" y="1972945"/>
            <a:ext cx="2916555" cy="4297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InfiniGen(OSDI 2024)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利用当前层信息预测下一层重要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KV，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并提前从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恢复</a:t>
            </a:r>
            <a:endParaRPr lang="zh-CN" alt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LMCache(arXiv 2025)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分层存储、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chunk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管理和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layer-wise pipeline</a:t>
            </a: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ScoutAttention(2026)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layer-ahead CPU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预计算与异步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recall</a:t>
            </a: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解决：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何时恢复？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方法：按 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Transformer 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层提前加载，与当前层计算重叠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4060190" y="1235075"/>
            <a:ext cx="3495675" cy="5133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136390" y="2068830"/>
            <a:ext cx="3326130" cy="410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H2O(NeurIPS 2023)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保留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Heavy Hitters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与近期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</a:t>
            </a: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BigBird（NeurIPS 2020）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Sparse Attention</a:t>
            </a: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FlexPrefill(ICLR 2025)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根据输入和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Query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动态确定稀疏模式及计算预算</a:t>
            </a:r>
            <a:endParaRPr lang="zh-CN" alt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解决：哪些 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KV 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需要访问？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方法：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Token / Block 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选择，减少 </a:t>
            </a: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Attention 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工作集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 fontScale="90000"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现有长上下文解决方案（介绍层级预取和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sparse attention)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: 圆角 5"/>
          <p:cNvSpPr/>
          <p:nvPr>
            <p:custDataLst>
              <p:tags r:id="rId7"/>
            </p:custDataLst>
          </p:nvPr>
        </p:nvSpPr>
        <p:spPr>
          <a:xfrm>
            <a:off x="8220075" y="1397000"/>
            <a:ext cx="2664460" cy="643890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Sparse Attention + 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Layer-wise Prefetch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7856220" y="1235075"/>
            <a:ext cx="3495675" cy="5133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7932420" y="2068830"/>
            <a:ext cx="3326130" cy="410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SolidAttention, FAST 2026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层级选择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+KV pair 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合并为粗粒度 </a:t>
            </a: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block</a:t>
            </a: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SSD-backend KVCache</a:t>
            </a:r>
            <a:endParaRPr lang="en-US" altLang="zh-CN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12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内存受限场景</a:t>
            </a:r>
            <a:endParaRPr lang="zh-CN" altLang="en-US" sz="12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ECHO(OSDI 2026)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377190" y="1607185"/>
            <a:ext cx="3496310" cy="51225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5871081" y="21113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2"/>
            </p:custDataLst>
          </p:nvPr>
        </p:nvSpPr>
        <p:spPr>
          <a:xfrm>
            <a:off x="678815" y="1776730"/>
            <a:ext cx="2664460" cy="643890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长上下文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多轮对话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4398645" y="1769110"/>
            <a:ext cx="2664460" cy="643890"/>
          </a:xfrm>
          <a:prstGeom prst="roundRect">
            <a:avLst/>
          </a:prstGeom>
          <a:solidFill>
            <a:srgbClr val="006D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 dirty="0">
                <a:latin typeface="黑体" panose="02010609060101010101" charset="-122"/>
                <a:ea typeface="黑体" panose="02010609060101010101" charset="-122"/>
              </a:rPr>
              <a:t>多用户对话</a:t>
            </a:r>
            <a:endParaRPr lang="zh-CN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426720" y="2345055"/>
            <a:ext cx="2916555" cy="4297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单请求 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prefix KV 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很大，全量加载代价高</a:t>
            </a:r>
            <a:endParaRPr lang="zh-CN" altLang="en-US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极端情况下会因频繁换入换出拉长 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TTFT。</a:t>
            </a:r>
            <a:endParaRPr lang="en-US" altLang="zh-CN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解决方案：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LayerKV(arXiv 24)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InfiniGen(OSDI 24)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层级调度 + 异步预取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Sparse Transformers(arXiv 19)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BigBird（NeurIPS 2020）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Sparse Attention</a:t>
            </a: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4034790" y="1607185"/>
            <a:ext cx="3495675" cy="51339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110990" y="2440940"/>
            <a:ext cx="3326130" cy="410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多用户并发会话会持续累积各自的历史 </a:t>
            </a:r>
            <a:r>
              <a:rPr lang="en-US" altLang="zh-CN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Cache，HBM </a:t>
            </a:r>
            <a:r>
              <a:rPr lang="zh-CN" altLang="en-US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容量很快吃紧，导致缓存频繁换入换出，带宽开销增大，尾延迟上升。</a:t>
            </a:r>
            <a:endParaRPr lang="zh-CN" altLang="en-US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解决方案：</a:t>
            </a:r>
            <a:endParaRPr lang="en-US" altLang="zh-CN" sz="1800" b="1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Sarathi-Serve(MLSys 2024)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Chunked Prefill</a:t>
            </a: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Orca（OSDI 2022）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宋体" panose="02010600030101010101" pitchFamily="2" charset="-122"/>
                <a:sym typeface="+mn-ea"/>
              </a:rPr>
              <a:t>Continuous batching</a:t>
            </a:r>
            <a:endParaRPr lang="en-US" altLang="zh-CN" sz="1600" dirty="0">
              <a:solidFill>
                <a:srgbClr val="262626"/>
              </a:solidFill>
              <a:latin typeface="微软雅黑" panose="020B0503020204020204" charset="-122"/>
              <a:ea typeface="宋体" panose="02010600030101010101" pitchFamily="2" charset="-122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BigBird（NeurIPS 2020）</a:t>
            </a:r>
            <a:endParaRPr lang="en-US" altLang="zh-CN" sz="16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Sparse Attention</a:t>
            </a:r>
            <a:endParaRPr lang="zh-CN" altLang="en-US" sz="1600" dirty="0">
              <a:solidFill>
                <a:srgbClr val="262626"/>
              </a:solidFill>
              <a:latin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研究现状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6716" y="1085121"/>
            <a:ext cx="8774632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SSD-backend KVcache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</a:rPr>
              <a:t>范式下大模型推理面临的问题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7832090" y="1607185"/>
            <a:ext cx="3636645" cy="3034665"/>
            <a:chOff x="12814" y="2214"/>
            <a:chExt cx="5727" cy="1964"/>
          </a:xfrm>
        </p:grpSpPr>
        <p:sp>
          <p:nvSpPr>
            <p:cNvPr id="49" name="矩形 48"/>
            <p:cNvSpPr/>
            <p:nvPr>
              <p:custDataLst>
                <p:tags r:id="rId8"/>
              </p:custDataLst>
            </p:nvPr>
          </p:nvSpPr>
          <p:spPr>
            <a:xfrm>
              <a:off x="12814" y="2214"/>
              <a:ext cx="5727" cy="196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12999" y="2214"/>
              <a:ext cx="5386" cy="1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共性问题一：</a:t>
              </a:r>
              <a:endParaRPr 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为发挥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SSD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带宽，组织粗粒度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Chunk KV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恢复，可能读入当前不需要的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，加重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瓶颈，且粗粒度数据组织不支持细粒度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，导致层级预取或稀疏注意力难以发挥优势。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10"/>
            </p:custDataLst>
          </p:nvPr>
        </p:nvGrpSpPr>
        <p:grpSpPr>
          <a:xfrm>
            <a:off x="7827010" y="4690745"/>
            <a:ext cx="3636645" cy="1846580"/>
            <a:chOff x="12814" y="2214"/>
            <a:chExt cx="5727" cy="1964"/>
          </a:xfrm>
        </p:grpSpPr>
        <p:sp>
          <p:nvSpPr>
            <p:cNvPr id="10" name="矩形 9"/>
            <p:cNvSpPr/>
            <p:nvPr>
              <p:custDataLst>
                <p:tags r:id="rId11"/>
              </p:custDataLst>
            </p:nvPr>
          </p:nvSpPr>
          <p:spPr>
            <a:xfrm>
              <a:off x="12814" y="2214"/>
              <a:ext cx="5727" cy="196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12"/>
              </p:custDataLst>
            </p:nvPr>
          </p:nvSpPr>
          <p:spPr>
            <a:xfrm>
              <a:off x="12999" y="2214"/>
              <a:ext cx="5386" cy="1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共性问题二：</a:t>
              </a:r>
              <a:endParaRPr 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GPU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显存容量成为限制长上下文、多用户对话并行计算的主要瓶颈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现有</a:t>
            </a:r>
            <a:r>
              <a:rPr lang="en-US" altLang="zh-CN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KVcache IO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后端数据粒度与调度不匹配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426463" y="6218555"/>
            <a:ext cx="11248061" cy="438912"/>
            <a:chOff x="815" y="9060"/>
            <a:chExt cx="17713" cy="691"/>
          </a:xfrm>
        </p:grpSpPr>
        <p:sp>
          <p:nvSpPr>
            <p:cNvPr id="133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问题</a:t>
              </a:r>
              <a:r>
                <a:rPr lang="en-US" altLang="zh-CN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1</a:t>
              </a:r>
              <a:endParaRPr lang="en-US" altLang="zh-CN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AutoShape 9"/>
            <p:cNvSpPr/>
            <p:nvPr/>
          </p:nvSpPr>
          <p:spPr>
            <a:xfrm>
              <a:off x="3244" y="9060"/>
              <a:ext cx="15284" cy="6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50" b="1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层级预取和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稀疏注意力都可以一定程度上缓解长上下文中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GPU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显存存不下的问题，但二者的调度要求数据以不同的细粒度形式组织，现有的粗粒度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IO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方案难以在维持带宽的情况下同时对这两种方案提供支持。</a:t>
              </a:r>
              <a:endParaRPr lang="zh-CN" altLang="en-US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404995" y="1128395"/>
            <a:ext cx="7547610" cy="4077335"/>
            <a:chOff x="256" y="1750"/>
            <a:chExt cx="11886" cy="6421"/>
          </a:xfrm>
        </p:grpSpPr>
        <p:sp>
          <p:nvSpPr>
            <p:cNvPr id="6" name="文本框 5"/>
            <p:cNvSpPr txBox="1"/>
            <p:nvPr/>
          </p:nvSpPr>
          <p:spPr>
            <a:xfrm>
              <a:off x="4924" y="1750"/>
              <a:ext cx="64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Transformer layers</a:t>
              </a:r>
              <a:endParaRPr lang="en-US" altLang="zh-CN"/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256" y="2263"/>
              <a:ext cx="11687" cy="1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/>
          </p:nvGrpSpPr>
          <p:grpSpPr>
            <a:xfrm>
              <a:off x="1565" y="2394"/>
              <a:ext cx="2055" cy="2839"/>
              <a:chOff x="1581" y="2483"/>
              <a:chExt cx="2055" cy="2839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1</a:t>
                </a:r>
                <a:endParaRPr lang="en-US" altLang="zh-CN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581" y="453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L2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2595" y="2380"/>
              <a:ext cx="4675" cy="2839"/>
              <a:chOff x="-1039" y="2483"/>
              <a:chExt cx="4675" cy="2839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2</a:t>
                </a:r>
                <a:endParaRPr lang="en-US" altLang="zh-CN"/>
              </a:p>
            </p:txBody>
          </p:sp>
          <p:sp>
            <p:nvSpPr>
              <p:cNvPr id="27" name="圆角矩形 26"/>
              <p:cNvSpPr/>
              <p:nvPr/>
            </p:nvSpPr>
            <p:spPr>
              <a:xfrm>
                <a:off x="1581" y="453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L3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接箭头连接符 27"/>
              <p:cNvCxnSpPr>
                <a:stCxn id="24" idx="2"/>
                <a:endCxn id="27" idx="0"/>
              </p:cNvCxnSpPr>
              <p:nvPr/>
            </p:nvCxnSpPr>
            <p:spPr>
              <a:xfrm flipH="1">
                <a:off x="2600" y="3682"/>
                <a:ext cx="9" cy="85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H="1">
                <a:off x="-1039" y="3682"/>
                <a:ext cx="9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/>
            <p:cNvGrpSpPr/>
            <p:nvPr/>
          </p:nvGrpSpPr>
          <p:grpSpPr>
            <a:xfrm>
              <a:off x="8832" y="2415"/>
              <a:ext cx="2055" cy="2839"/>
              <a:chOff x="1581" y="2483"/>
              <a:chExt cx="2055" cy="2839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3</a:t>
                </a:r>
                <a:endParaRPr lang="en-US" altLang="zh-CN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1581" y="453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L4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接箭头连接符 45"/>
              <p:cNvCxnSpPr>
                <a:stCxn id="32" idx="2"/>
                <a:endCxn id="45" idx="0"/>
              </p:cNvCxnSpPr>
              <p:nvPr/>
            </p:nvCxnSpPr>
            <p:spPr>
              <a:xfrm flipH="1">
                <a:off x="2600" y="3682"/>
                <a:ext cx="9" cy="85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>
              <a:off x="629" y="5440"/>
              <a:ext cx="4069" cy="599"/>
              <a:chOff x="629" y="5440"/>
              <a:chExt cx="4069" cy="599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29" y="5440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L1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602" y="5457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56" name="直接箭头连接符 55"/>
              <p:cNvCxnSpPr/>
              <p:nvPr/>
            </p:nvCxnSpPr>
            <p:spPr>
              <a:xfrm>
                <a:off x="2033" y="5712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4351" y="5781"/>
              <a:ext cx="4069" cy="599"/>
              <a:chOff x="629" y="5440"/>
              <a:chExt cx="4069" cy="599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629" y="5440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L2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3602" y="5457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64" name="直接箭头连接符 63"/>
              <p:cNvCxnSpPr/>
              <p:nvPr/>
            </p:nvCxnSpPr>
            <p:spPr>
              <a:xfrm>
                <a:off x="2033" y="5695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64"/>
            <p:cNvGrpSpPr/>
            <p:nvPr/>
          </p:nvGrpSpPr>
          <p:grpSpPr>
            <a:xfrm>
              <a:off x="8073" y="6177"/>
              <a:ext cx="4069" cy="585"/>
              <a:chOff x="629" y="5422"/>
              <a:chExt cx="4069" cy="585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629" y="5422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L3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3602" y="5425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68" name="直接箭头连接符 67"/>
              <p:cNvCxnSpPr/>
              <p:nvPr/>
            </p:nvCxnSpPr>
            <p:spPr>
              <a:xfrm>
                <a:off x="2033" y="5663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5" name="直接箭头连接符 74"/>
            <p:cNvCxnSpPr>
              <a:stCxn id="9" idx="3"/>
              <a:endCxn id="24" idx="1"/>
            </p:cNvCxnSpPr>
            <p:nvPr/>
          </p:nvCxnSpPr>
          <p:spPr>
            <a:xfrm flipV="1">
              <a:off x="3620" y="3236"/>
              <a:ext cx="159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7270" y="3250"/>
              <a:ext cx="159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>
              <a:off x="10887" y="3278"/>
              <a:ext cx="1005" cy="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>
              <a:off x="9456" y="8159"/>
              <a:ext cx="1005" cy="1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35" name="直接连接符 34"/>
          <p:cNvCxnSpPr/>
          <p:nvPr/>
        </p:nvCxnSpPr>
        <p:spPr>
          <a:xfrm>
            <a:off x="4526280" y="4387850"/>
            <a:ext cx="7239000" cy="0"/>
          </a:xfrm>
          <a:prstGeom prst="line">
            <a:avLst/>
          </a:prstGeom>
          <a:ln w="28575" cap="flat" cmpd="sng" algn="ctr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5236210" y="4953635"/>
            <a:ext cx="865505" cy="485140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Query</a:t>
            </a:r>
            <a:endParaRPr lang="en-US" altLang="zh-CN"/>
          </a:p>
        </p:txBody>
      </p:sp>
      <p:sp>
        <p:nvSpPr>
          <p:cNvPr id="37" name="圆角矩形 36"/>
          <p:cNvSpPr/>
          <p:nvPr/>
        </p:nvSpPr>
        <p:spPr>
          <a:xfrm>
            <a:off x="9125585" y="4955540"/>
            <a:ext cx="1121410" cy="48514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Attention </a:t>
            </a:r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7178675" y="4499610"/>
            <a:ext cx="773430" cy="1488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Full KV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967855" y="5455920"/>
            <a:ext cx="1212215" cy="5842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箭头连接符 39"/>
          <p:cNvCxnSpPr>
            <a:stCxn id="36" idx="3"/>
            <a:endCxn id="39" idx="1"/>
          </p:cNvCxnSpPr>
          <p:nvPr/>
        </p:nvCxnSpPr>
        <p:spPr>
          <a:xfrm>
            <a:off x="6101715" y="5196205"/>
            <a:ext cx="866140" cy="551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9" idx="3"/>
            <a:endCxn id="37" idx="1"/>
          </p:cNvCxnSpPr>
          <p:nvPr/>
        </p:nvCxnSpPr>
        <p:spPr>
          <a:xfrm flipV="1">
            <a:off x="8180070" y="5198110"/>
            <a:ext cx="945515" cy="549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019023" y="64808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357630" y="1744980"/>
            <a:ext cx="1466850" cy="5149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57630" y="2259965"/>
            <a:ext cx="1466850" cy="5149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7630" y="2771775"/>
            <a:ext cx="1466850" cy="5149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7630" y="4211320"/>
            <a:ext cx="1466850" cy="5149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754380" y="1713865"/>
            <a:ext cx="410210" cy="35293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 rot="16200000">
            <a:off x="-901700" y="2878455"/>
            <a:ext cx="2669540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级数据组织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直接连接符 28"/>
          <p:cNvCxnSpPr>
            <a:stCxn id="15" idx="2"/>
            <a:endCxn id="16" idx="0"/>
          </p:cNvCxnSpPr>
          <p:nvPr/>
        </p:nvCxnSpPr>
        <p:spPr>
          <a:xfrm>
            <a:off x="2091055" y="3286760"/>
            <a:ext cx="0" cy="924560"/>
          </a:xfrm>
          <a:prstGeom prst="line">
            <a:avLst/>
          </a:prstGeom>
          <a:ln w="12700" cap="flat" cmpd="sng" algn="ctr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17" idx="1"/>
          </p:cNvCxnSpPr>
          <p:nvPr/>
        </p:nvCxnSpPr>
        <p:spPr>
          <a:xfrm>
            <a:off x="2903220" y="2268855"/>
            <a:ext cx="2332990" cy="821690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1264920" y="3851275"/>
            <a:ext cx="1718310" cy="1508760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357630" y="4727575"/>
            <a:ext cx="1466850" cy="51498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Block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2546350" y="1528445"/>
            <a:ext cx="357505" cy="391033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3" name="直接箭头连接符 52"/>
          <p:cNvCxnSpPr>
            <a:stCxn id="51" idx="3"/>
            <a:endCxn id="39" idx="1"/>
          </p:cNvCxnSpPr>
          <p:nvPr/>
        </p:nvCxnSpPr>
        <p:spPr>
          <a:xfrm>
            <a:off x="2983230" y="4605655"/>
            <a:ext cx="3984625" cy="1142365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105910" y="1528445"/>
            <a:ext cx="121094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层级预取</a:t>
            </a:r>
            <a:endParaRPr lang="zh-CN" altLang="en-US" sz="1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105910" y="4387850"/>
            <a:ext cx="161988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稀疏注意力</a:t>
            </a:r>
            <a:endParaRPr lang="zh-CN" altLang="en-US" sz="18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5871081" y="211138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815823" y="627761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机制选择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440433" y="5865898"/>
            <a:ext cx="1417320" cy="411480"/>
          </a:xfrm>
          <a:prstGeom prst="rect">
            <a:avLst/>
          </a:prstGeom>
          <a:solidFill>
            <a:srgbClr val="0B2D5B"/>
          </a:solidFill>
          <a:ln>
            <a:solidFill>
              <a:srgbClr val="0B2D5B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本课题切入</a:t>
            </a:r>
            <a:endParaRPr lang="en-US" sz="1600" dirty="0"/>
          </a:p>
        </p:txBody>
      </p:sp>
      <p:sp>
        <p:nvSpPr>
          <p:cNvPr id="31" name="Text 15"/>
          <p:cNvSpPr/>
          <p:nvPr/>
        </p:nvSpPr>
        <p:spPr>
          <a:xfrm>
            <a:off x="2059940" y="5669915"/>
            <a:ext cx="9705340" cy="80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基于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GPU-initiated direct storage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BaM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系统）范式，针对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KV cache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细粒度随机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IO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的数据特点，设计面向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Transformer block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层级选择、细粒度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KV Block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预取的泛用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IO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机制与后台</a:t>
            </a:r>
            <a:r>
              <a:rPr lang="en-US" altLang="zh-CN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IO</a:t>
            </a:r>
            <a:r>
              <a:rPr lang="zh-CN" altLang="en-US" sz="1650" b="1" dirty="0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系统，从而为解决长上下文和多用户对话问题提供系统支持</a:t>
            </a:r>
            <a:endParaRPr lang="zh-CN" altLang="en-US" sz="1650" b="1" dirty="0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61950" y="1176655"/>
            <a:ext cx="8774430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为什么以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BaM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宋体" panose="02010600030101010101" pitchFamily="2" charset="-122"/>
                <a:sym typeface="+mn-ea"/>
              </a:rPr>
              <a:t>系统作为切入点</a:t>
            </a:r>
            <a:endParaRPr lang="en-US" sz="2800" b="1" dirty="0"/>
          </a:p>
          <a:p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240905" y="1327150"/>
            <a:ext cx="4524375" cy="2832735"/>
            <a:chOff x="9023" y="1853"/>
            <a:chExt cx="9180" cy="5444"/>
          </a:xfrm>
        </p:grpSpPr>
        <p:grpSp>
          <p:nvGrpSpPr>
            <p:cNvPr id="4" name="组合 3"/>
            <p:cNvGrpSpPr/>
            <p:nvPr/>
          </p:nvGrpSpPr>
          <p:grpSpPr>
            <a:xfrm rot="0">
              <a:off x="9023" y="1853"/>
              <a:ext cx="9180" cy="5444"/>
              <a:chOff x="1116" y="2466"/>
              <a:chExt cx="8930" cy="566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116" y="2466"/>
                <a:ext cx="8930" cy="5661"/>
              </a:xfrm>
              <a:prstGeom prst="roundRect">
                <a:avLst/>
              </a:prstGeom>
              <a:solidFill>
                <a:srgbClr val="FFFFFF"/>
              </a:solidFill>
              <a:ln w="15240">
                <a:solidFill>
                  <a:srgbClr val="B4CD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18288" rIns="54864" bIns="18288" rtlCol="0" anchor="ctr"/>
              <a:lstStyle/>
              <a:p>
                <a:pPr algn="ctr">
                  <a:defRPr sz="1600" b="0">
                    <a:solidFill>
                      <a:srgbClr val="232323"/>
                    </a:solidFill>
                    <a:latin typeface="微软雅黑" panose="020B0503020204020204" charset="-122"/>
                  </a:defRPr>
                </a:pPr>
              </a:p>
            </p:txBody>
          </p:sp>
          <p:sp>
            <p:nvSpPr>
              <p:cNvPr id="33" name="TextBox 5"/>
              <p:cNvSpPr txBox="1"/>
              <p:nvPr/>
            </p:nvSpPr>
            <p:spPr>
              <a:xfrm>
                <a:off x="1326" y="2619"/>
                <a:ext cx="8317" cy="439"/>
              </a:xfrm>
              <a:prstGeom prst="rect">
                <a:avLst/>
              </a:prstGeom>
              <a:noFill/>
            </p:spPr>
            <p:txBody>
              <a:bodyPr wrap="square" lIns="27432" tIns="9144" rIns="27432" bIns="9144">
                <a:noAutofit/>
              </a:bodyPr>
              <a:lstStyle/>
              <a:p>
                <a:pPr algn="ctr">
                  <a:defRPr sz="1520" b="1">
                    <a:solidFill>
                      <a:srgbClr val="0C2A55"/>
                    </a:solidFill>
                    <a:latin typeface="微软雅黑" panose="020B0503020204020204" charset="-122"/>
                  </a:defRPr>
                </a:pPr>
                <a:r>
                  <a:rPr lang="zh-CN" altLang="en-US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不同 </a:t>
                </a:r>
                <a:r>
                  <a:rPr lang="en-US" altLang="zh-CN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I/O </a:t>
                </a:r>
                <a:r>
                  <a:rPr lang="zh-CN" altLang="en-US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粒度下 </a:t>
                </a:r>
                <a:r>
                  <a:rPr lang="en-US" altLang="zh-CN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BaM </a:t>
                </a:r>
                <a:r>
                  <a:rPr lang="zh-CN" altLang="en-US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与 </a:t>
                </a:r>
                <a:r>
                  <a:rPr lang="en-US" altLang="zh-CN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GDS </a:t>
                </a:r>
                <a:r>
                  <a:rPr lang="zh-CN" altLang="en-US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的带宽利用率对比</a:t>
                </a:r>
                <a:r>
                  <a:rPr lang="en-US" altLang="zh-CN">
                    <a:solidFill>
                      <a:srgbClr val="0B2D5B"/>
                    </a:solidFill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 (%)</a:t>
                </a:r>
                <a:endParaRPr lang="zh-CN" altLang="en-US" b="1" i="0" u="none" strike="noStrike">
                  <a:solidFill>
                    <a:srgbClr val="0B2D5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endParaRPr>
              </a:p>
              <a:p>
                <a:pPr algn="ctr">
                  <a:defRPr sz="1520" b="1">
                    <a:solidFill>
                      <a:srgbClr val="0C2A55"/>
                    </a:solidFill>
                    <a:latin typeface="微软雅黑" panose="020B0503020204020204" charset="-122"/>
                  </a:defRPr>
                </a:pPr>
              </a:p>
            </p:txBody>
          </p:sp>
        </p:grpSp>
        <p:graphicFrame>
          <p:nvGraphicFramePr>
            <p:cNvPr id="7" name="图表 6"/>
            <p:cNvGraphicFramePr/>
            <p:nvPr/>
          </p:nvGraphicFramePr>
          <p:xfrm>
            <a:off x="9240" y="2532"/>
            <a:ext cx="8843" cy="476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7517130" y="4346575"/>
            <a:ext cx="4043680" cy="1198880"/>
            <a:chOff x="12814" y="2214"/>
            <a:chExt cx="5727" cy="1964"/>
          </a:xfrm>
        </p:grpSpPr>
        <p:sp>
          <p:nvSpPr>
            <p:cNvPr id="49" name="矩形 48"/>
            <p:cNvSpPr/>
            <p:nvPr>
              <p:custDataLst>
                <p:tags r:id="rId4"/>
              </p:custDataLst>
            </p:nvPr>
          </p:nvSpPr>
          <p:spPr>
            <a:xfrm>
              <a:off x="12814" y="2214"/>
              <a:ext cx="5727" cy="196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>
              <p:custDataLst>
                <p:tags r:id="rId5"/>
              </p:custDataLst>
            </p:nvPr>
          </p:nvSpPr>
          <p:spPr>
            <a:xfrm>
              <a:off x="12999" y="2214"/>
              <a:ext cx="5386" cy="1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GDS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难以高效支撑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32KB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以下随机 </a:t>
              </a:r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 I/O，BaM </a:t>
              </a:r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则能在细粒度下保持高带宽。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800100" y="4940300"/>
            <a:ext cx="5104130" cy="6350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BaM </a:t>
            </a:r>
            <a:r>
              <a:rPr lang="zh-CN" altLang="en-US"/>
              <a:t>在细粒度 </a:t>
            </a:r>
            <a:r>
              <a:rPr lang="en-US" altLang="zh-CN"/>
              <a:t>KV </a:t>
            </a:r>
            <a:r>
              <a:rPr lang="zh-CN" altLang="en-US"/>
              <a:t>恢复场景下能显著提升 </a:t>
            </a:r>
            <a:r>
              <a:rPr lang="en-US" altLang="zh-CN"/>
              <a:t>SSD </a:t>
            </a:r>
            <a:r>
              <a:rPr lang="zh-CN" altLang="en-US"/>
              <a:t>有效带宽</a:t>
            </a:r>
            <a:endParaRPr lang="en-US" altLang="zh-CN"/>
          </a:p>
        </p:txBody>
      </p:sp>
      <p:grpSp>
        <p:nvGrpSpPr>
          <p:cNvPr id="17" name="组合 16"/>
          <p:cNvGrpSpPr/>
          <p:nvPr/>
        </p:nvGrpSpPr>
        <p:grpSpPr>
          <a:xfrm>
            <a:off x="660400" y="2190115"/>
            <a:ext cx="5348605" cy="2654300"/>
            <a:chOff x="9374" y="2655"/>
            <a:chExt cx="8555" cy="4110"/>
          </a:xfrm>
        </p:grpSpPr>
        <p:sp>
          <p:nvSpPr>
            <p:cNvPr id="6" name="Rounded Rectangle 4"/>
            <p:cNvSpPr/>
            <p:nvPr/>
          </p:nvSpPr>
          <p:spPr>
            <a:xfrm>
              <a:off x="9374" y="2655"/>
              <a:ext cx="8555" cy="411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B4CD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>
                <a:defRPr sz="1600" b="0">
                  <a:solidFill>
                    <a:srgbClr val="232323"/>
                  </a:solidFill>
                  <a:latin typeface="微软雅黑" panose="020B0503020204020204" charset="-122"/>
                </a:defRPr>
              </a:pPr>
            </a:p>
          </p:txBody>
        </p:sp>
        <p:graphicFrame>
          <p:nvGraphicFramePr>
            <p:cNvPr id="8" name="图表 7" descr="7b0a202020202263686172745265734964223a202234363130333534220a7d0a"/>
            <p:cNvGraphicFramePr/>
            <p:nvPr/>
          </p:nvGraphicFramePr>
          <p:xfrm>
            <a:off x="9597" y="2798"/>
            <a:ext cx="8164" cy="375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660400" y="1753870"/>
            <a:ext cx="5453380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BaM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可以在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kvcache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场景下发挥细粒度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IO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的带宽优势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等线" panose="02010600030101010101" charset="-122"/>
            </a:endParaRPr>
          </a:p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直接箭头连接符 127"/>
          <p:cNvCxnSpPr>
            <a:stCxn id="81" idx="3"/>
          </p:cNvCxnSpPr>
          <p:nvPr/>
        </p:nvCxnSpPr>
        <p:spPr>
          <a:xfrm>
            <a:off x="4266565" y="2026285"/>
            <a:ext cx="2226310" cy="15347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BaM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系统仅支撑同步模式</a:t>
            </a:r>
            <a:endParaRPr lang="zh-CN" alt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1" name="组合 130"/>
          <p:cNvGrpSpPr/>
          <p:nvPr/>
        </p:nvGrpSpPr>
        <p:grpSpPr>
          <a:xfrm>
            <a:off x="426720" y="1243965"/>
            <a:ext cx="5080000" cy="4526915"/>
            <a:chOff x="672" y="2316"/>
            <a:chExt cx="8000" cy="7129"/>
          </a:xfrm>
        </p:grpSpPr>
        <p:sp>
          <p:nvSpPr>
            <p:cNvPr id="16" name="矩形 15"/>
            <p:cNvSpPr/>
            <p:nvPr/>
          </p:nvSpPr>
          <p:spPr>
            <a:xfrm>
              <a:off x="863" y="2316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v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005" y="2316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v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4289" y="2316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>
                <a:lnSpc>
                  <a:spcPct val="60000"/>
                </a:lnSpc>
              </a:pPr>
              <a:r>
                <a:rPr lang="en-US" altLang="zh-CN" sz="3600" baseline="-2500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3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431" y="2316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v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256K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147" y="2316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v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863" y="8892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005" y="8892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289" y="8892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>
                <a:lnSpc>
                  <a:spcPct val="60000"/>
                </a:lnSpc>
              </a:pPr>
              <a:r>
                <a:rPr lang="en-US" altLang="zh-CN" sz="3600" baseline="-25000"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3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431" y="8892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256K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147" y="8892"/>
              <a:ext cx="1142" cy="5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600"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600" baseline="-25000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1600" baseline="-250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762" y="3300"/>
              <a:ext cx="1483" cy="5024"/>
              <a:chOff x="762" y="3300"/>
              <a:chExt cx="1483" cy="5024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863" y="3367"/>
                <a:ext cx="1382" cy="4957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047" y="3300"/>
                <a:ext cx="118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rgbClr val="FF0000"/>
                    </a:solidFill>
                  </a:rPr>
                  <a:t>Warp1</a:t>
                </a:r>
                <a:endParaRPr lang="en-US" altLang="zh-CN" sz="120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1184" y="3615"/>
                <a:ext cx="614" cy="752"/>
                <a:chOff x="1195" y="3804"/>
                <a:chExt cx="614" cy="752"/>
              </a:xfrm>
            </p:grpSpPr>
            <p:cxnSp>
              <p:nvCxnSpPr>
                <p:cNvPr id="41" name="直接箭头连接符 40"/>
                <p:cNvCxnSpPr/>
                <p:nvPr/>
              </p:nvCxnSpPr>
              <p:spPr>
                <a:xfrm>
                  <a:off x="1195" y="3959"/>
                  <a:ext cx="0" cy="4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/>
                <p:cNvCxnSpPr/>
                <p:nvPr/>
              </p:nvCxnSpPr>
              <p:spPr>
                <a:xfrm>
                  <a:off x="1800" y="3959"/>
                  <a:ext cx="0" cy="4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4" name="文本框 43"/>
                <p:cNvSpPr txBox="1"/>
                <p:nvPr/>
              </p:nvSpPr>
              <p:spPr>
                <a:xfrm>
                  <a:off x="1195" y="3804"/>
                  <a:ext cx="614" cy="7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2000">
                      <a:latin typeface="微软雅黑" panose="020B0503020204020204" charset="-122"/>
                      <a:ea typeface="微软雅黑" panose="020B0503020204020204" charset="-122"/>
                    </a:rPr>
                    <a:t>...</a:t>
                  </a:r>
                  <a:endParaRPr lang="en-US" altLang="zh-CN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939" y="5541"/>
                <a:ext cx="590" cy="724"/>
                <a:chOff x="1047" y="6039"/>
                <a:chExt cx="951" cy="1099"/>
              </a:xfrm>
            </p:grpSpPr>
            <p:sp>
              <p:nvSpPr>
                <p:cNvPr id="54" name="同心圆 53"/>
                <p:cNvSpPr/>
                <p:nvPr/>
              </p:nvSpPr>
              <p:spPr>
                <a:xfrm>
                  <a:off x="1047" y="6039"/>
                  <a:ext cx="922" cy="903"/>
                </a:xfrm>
                <a:prstGeom prst="donut">
                  <a:avLst>
                    <a:gd name="adj" fmla="val 16654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1078" y="6249"/>
                  <a:ext cx="920" cy="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800"/>
                    <a:t>SQ</a:t>
                  </a:r>
                  <a:endParaRPr lang="en-US" altLang="zh-CN" sz="800"/>
                </a:p>
              </p:txBody>
            </p:sp>
          </p:grpSp>
          <p:cxnSp>
            <p:nvCxnSpPr>
              <p:cNvPr id="63" name="直接箭头连接符 62"/>
              <p:cNvCxnSpPr/>
              <p:nvPr/>
            </p:nvCxnSpPr>
            <p:spPr>
              <a:xfrm flipH="1">
                <a:off x="1158" y="4947"/>
                <a:ext cx="8" cy="6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箭头连接符 64"/>
              <p:cNvCxnSpPr/>
              <p:nvPr/>
            </p:nvCxnSpPr>
            <p:spPr>
              <a:xfrm flipH="1">
                <a:off x="1158" y="6118"/>
                <a:ext cx="17" cy="6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66" name="组合 65"/>
              <p:cNvGrpSpPr/>
              <p:nvPr/>
            </p:nvGrpSpPr>
            <p:grpSpPr>
              <a:xfrm>
                <a:off x="939" y="6795"/>
                <a:ext cx="590" cy="724"/>
                <a:chOff x="1047" y="6039"/>
                <a:chExt cx="951" cy="1099"/>
              </a:xfrm>
            </p:grpSpPr>
            <p:sp>
              <p:nvSpPr>
                <p:cNvPr id="67" name="同心圆 66"/>
                <p:cNvSpPr/>
                <p:nvPr/>
              </p:nvSpPr>
              <p:spPr>
                <a:xfrm>
                  <a:off x="1047" y="6039"/>
                  <a:ext cx="922" cy="903"/>
                </a:xfrm>
                <a:prstGeom prst="donut">
                  <a:avLst>
                    <a:gd name="adj" fmla="val 16654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文本框 67"/>
                <p:cNvSpPr txBox="1"/>
                <p:nvPr/>
              </p:nvSpPr>
              <p:spPr>
                <a:xfrm>
                  <a:off x="1078" y="6249"/>
                  <a:ext cx="920" cy="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800"/>
                    <a:t>CQ</a:t>
                  </a:r>
                  <a:endParaRPr lang="en-US" altLang="zh-CN" sz="800"/>
                </a:p>
              </p:txBody>
            </p:sp>
          </p:grpSp>
          <p:sp>
            <p:nvSpPr>
              <p:cNvPr id="69" name="文本框 68"/>
              <p:cNvSpPr txBox="1"/>
              <p:nvPr/>
            </p:nvSpPr>
            <p:spPr>
              <a:xfrm rot="16200000">
                <a:off x="504" y="625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Polling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 rot="16200000">
                <a:off x="478" y="510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Thread0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75" name="直接箭头连接符 74"/>
              <p:cNvCxnSpPr/>
              <p:nvPr/>
            </p:nvCxnSpPr>
            <p:spPr>
              <a:xfrm>
                <a:off x="1798" y="4947"/>
                <a:ext cx="5" cy="33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/>
              <p:nvPr/>
            </p:nvCxnSpPr>
            <p:spPr>
              <a:xfrm flipH="1">
                <a:off x="1176" y="7450"/>
                <a:ext cx="12" cy="8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7" name="文本框 76"/>
              <p:cNvSpPr txBox="1"/>
              <p:nvPr/>
            </p:nvSpPr>
            <p:spPr>
              <a:xfrm rot="16200000">
                <a:off x="1514" y="625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Waiting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5090" y="3331"/>
              <a:ext cx="1629" cy="4957"/>
              <a:chOff x="762" y="3367"/>
              <a:chExt cx="1629" cy="4957"/>
            </a:xfrm>
          </p:grpSpPr>
          <p:sp>
            <p:nvSpPr>
              <p:cNvPr id="80" name="圆角矩形 79"/>
              <p:cNvSpPr/>
              <p:nvPr/>
            </p:nvSpPr>
            <p:spPr>
              <a:xfrm>
                <a:off x="863" y="3367"/>
                <a:ext cx="1382" cy="4957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789" y="3367"/>
                <a:ext cx="160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rgbClr val="FF0000"/>
                    </a:solidFill>
                  </a:rPr>
                  <a:t>Warp 256K</a:t>
                </a:r>
                <a:endParaRPr lang="en-US" altLang="zh-CN" sz="120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82" name="组合 81"/>
              <p:cNvGrpSpPr/>
              <p:nvPr/>
            </p:nvGrpSpPr>
            <p:grpSpPr>
              <a:xfrm>
                <a:off x="1184" y="3615"/>
                <a:ext cx="614" cy="752"/>
                <a:chOff x="1195" y="3804"/>
                <a:chExt cx="614" cy="752"/>
              </a:xfrm>
            </p:grpSpPr>
            <p:cxnSp>
              <p:nvCxnSpPr>
                <p:cNvPr id="83" name="直接箭头连接符 82"/>
                <p:cNvCxnSpPr/>
                <p:nvPr/>
              </p:nvCxnSpPr>
              <p:spPr>
                <a:xfrm>
                  <a:off x="1195" y="3959"/>
                  <a:ext cx="0" cy="4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箭头连接符 83"/>
                <p:cNvCxnSpPr/>
                <p:nvPr/>
              </p:nvCxnSpPr>
              <p:spPr>
                <a:xfrm>
                  <a:off x="1800" y="3959"/>
                  <a:ext cx="0" cy="44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5" name="文本框 84"/>
                <p:cNvSpPr txBox="1"/>
                <p:nvPr/>
              </p:nvSpPr>
              <p:spPr>
                <a:xfrm>
                  <a:off x="1195" y="3804"/>
                  <a:ext cx="614" cy="7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2000">
                      <a:latin typeface="微软雅黑" panose="020B0503020204020204" charset="-122"/>
                      <a:ea typeface="微软雅黑" panose="020B0503020204020204" charset="-122"/>
                    </a:rPr>
                    <a:t>...</a:t>
                  </a:r>
                  <a:endParaRPr lang="en-US" altLang="zh-CN" sz="20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939" y="5541"/>
                <a:ext cx="590" cy="724"/>
                <a:chOff x="1047" y="6039"/>
                <a:chExt cx="951" cy="1099"/>
              </a:xfrm>
            </p:grpSpPr>
            <p:sp>
              <p:nvSpPr>
                <p:cNvPr id="87" name="同心圆 86"/>
                <p:cNvSpPr/>
                <p:nvPr/>
              </p:nvSpPr>
              <p:spPr>
                <a:xfrm>
                  <a:off x="1047" y="6039"/>
                  <a:ext cx="922" cy="903"/>
                </a:xfrm>
                <a:prstGeom prst="donut">
                  <a:avLst>
                    <a:gd name="adj" fmla="val 16654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文本框 87"/>
                <p:cNvSpPr txBox="1"/>
                <p:nvPr/>
              </p:nvSpPr>
              <p:spPr>
                <a:xfrm>
                  <a:off x="1078" y="6249"/>
                  <a:ext cx="920" cy="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800"/>
                    <a:t>SQ</a:t>
                  </a:r>
                  <a:endParaRPr lang="en-US" altLang="zh-CN" sz="800"/>
                </a:p>
              </p:txBody>
            </p:sp>
          </p:grpSp>
          <p:cxnSp>
            <p:nvCxnSpPr>
              <p:cNvPr id="89" name="直接箭头连接符 88"/>
              <p:cNvCxnSpPr/>
              <p:nvPr/>
            </p:nvCxnSpPr>
            <p:spPr>
              <a:xfrm flipH="1">
                <a:off x="1158" y="4947"/>
                <a:ext cx="8" cy="6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0" name="直接箭头连接符 89"/>
              <p:cNvCxnSpPr/>
              <p:nvPr/>
            </p:nvCxnSpPr>
            <p:spPr>
              <a:xfrm flipH="1">
                <a:off x="1158" y="6118"/>
                <a:ext cx="17" cy="6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91" name="组合 90"/>
              <p:cNvGrpSpPr/>
              <p:nvPr/>
            </p:nvGrpSpPr>
            <p:grpSpPr>
              <a:xfrm>
                <a:off x="939" y="6795"/>
                <a:ext cx="590" cy="724"/>
                <a:chOff x="1047" y="6039"/>
                <a:chExt cx="951" cy="1099"/>
              </a:xfrm>
            </p:grpSpPr>
            <p:sp>
              <p:nvSpPr>
                <p:cNvPr id="92" name="同心圆 91"/>
                <p:cNvSpPr/>
                <p:nvPr/>
              </p:nvSpPr>
              <p:spPr>
                <a:xfrm>
                  <a:off x="1047" y="6039"/>
                  <a:ext cx="922" cy="903"/>
                </a:xfrm>
                <a:prstGeom prst="donut">
                  <a:avLst>
                    <a:gd name="adj" fmla="val 16654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1078" y="6249"/>
                  <a:ext cx="920" cy="8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 sz="800"/>
                    <a:t>CQ</a:t>
                  </a:r>
                  <a:endParaRPr lang="en-US" altLang="zh-CN" sz="800"/>
                </a:p>
              </p:txBody>
            </p:sp>
          </p:grpSp>
          <p:sp>
            <p:nvSpPr>
              <p:cNvPr id="94" name="文本框 93"/>
              <p:cNvSpPr txBox="1"/>
              <p:nvPr/>
            </p:nvSpPr>
            <p:spPr>
              <a:xfrm rot="16200000">
                <a:off x="504" y="625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Polling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 rot="16200000">
                <a:off x="478" y="510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Thread0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96" name="直接箭头连接符 95"/>
              <p:cNvCxnSpPr/>
              <p:nvPr/>
            </p:nvCxnSpPr>
            <p:spPr>
              <a:xfrm>
                <a:off x="1798" y="4947"/>
                <a:ext cx="5" cy="332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/>
              <p:cNvCxnSpPr/>
              <p:nvPr/>
            </p:nvCxnSpPr>
            <p:spPr>
              <a:xfrm flipH="1">
                <a:off x="1176" y="7450"/>
                <a:ext cx="12" cy="8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8" name="文本框 97"/>
              <p:cNvSpPr txBox="1"/>
              <p:nvPr/>
            </p:nvSpPr>
            <p:spPr>
              <a:xfrm rot="16200000">
                <a:off x="1514" y="6253"/>
                <a:ext cx="964" cy="39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Waiting</a:t>
                </a:r>
                <a:endParaRPr lang="en-US" altLang="zh-CN" sz="10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5" name="矩形 44"/>
            <p:cNvSpPr/>
            <p:nvPr/>
          </p:nvSpPr>
          <p:spPr>
            <a:xfrm>
              <a:off x="672" y="4257"/>
              <a:ext cx="6270" cy="64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Page Cache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99" name="直接箭头连接符 98"/>
            <p:cNvCxnSpPr>
              <a:stCxn id="16" idx="2"/>
              <a:endCxn id="40" idx="0"/>
            </p:cNvCxnSpPr>
            <p:nvPr/>
          </p:nvCxnSpPr>
          <p:spPr>
            <a:xfrm>
              <a:off x="1434" y="2869"/>
              <a:ext cx="205" cy="43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39" idx="2"/>
              <a:endCxn id="33" idx="0"/>
            </p:cNvCxnSpPr>
            <p:nvPr/>
          </p:nvCxnSpPr>
          <p:spPr>
            <a:xfrm flipH="1">
              <a:off x="1434" y="8324"/>
              <a:ext cx="120" cy="56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26" idx="2"/>
              <a:endCxn id="81" idx="0"/>
            </p:cNvCxnSpPr>
            <p:nvPr/>
          </p:nvCxnSpPr>
          <p:spPr>
            <a:xfrm flipH="1">
              <a:off x="5918" y="2869"/>
              <a:ext cx="84" cy="46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>
              <a:stCxn id="80" idx="2"/>
              <a:endCxn id="37" idx="0"/>
            </p:cNvCxnSpPr>
            <p:nvPr/>
          </p:nvCxnSpPr>
          <p:spPr>
            <a:xfrm>
              <a:off x="5882" y="8288"/>
              <a:ext cx="120" cy="60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3274" y="5541"/>
              <a:ext cx="889" cy="97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32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  <a:endParaRPr lang="en-US" altLang="zh-CN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7063" y="3435"/>
              <a:ext cx="160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查看是否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命中缓存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7063" y="4821"/>
              <a:ext cx="120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提交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IO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请求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7063" y="6592"/>
              <a:ext cx="120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</a:rPr>
                <a:t>主线程</a:t>
              </a:r>
              <a:endParaRPr lang="zh-CN"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</a:rPr>
                <a:t>轮询</a:t>
              </a:r>
              <a:endParaRPr 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7063" y="7933"/>
              <a:ext cx="142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>
                  <a:latin typeface="微软雅黑" panose="020B0503020204020204" charset="-122"/>
                  <a:ea typeface="微软雅黑" panose="020B0503020204020204" charset="-122"/>
                </a:rPr>
                <a:t>数据搬运</a:t>
              </a:r>
              <a:endParaRPr 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>
            <a:xfrm flipH="1">
              <a:off x="7469" y="4257"/>
              <a:ext cx="12" cy="56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/>
            <p:nvPr/>
          </p:nvCxnSpPr>
          <p:spPr>
            <a:xfrm flipH="1">
              <a:off x="7483" y="5560"/>
              <a:ext cx="3" cy="103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 flipH="1">
              <a:off x="7477" y="7390"/>
              <a:ext cx="10" cy="6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6" name="文本框 115"/>
          <p:cNvSpPr txBox="1"/>
          <p:nvPr/>
        </p:nvSpPr>
        <p:spPr>
          <a:xfrm>
            <a:off x="6224905" y="1243965"/>
            <a:ext cx="48901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由于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GPU</a:t>
            </a:r>
            <a:r>
              <a:rPr 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线程调度以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warp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为单位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BaM</a:t>
            </a:r>
            <a:r>
              <a:rPr lang="zh-CN" altLang="en-US" sz="2000" b="1" dirty="0">
                <a:solidFill>
                  <a:srgbClr val="FF0000"/>
                </a:solidFill>
              </a:rPr>
              <a:t>系统同步轮询过程中非主线程忙等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734175" y="1993265"/>
            <a:ext cx="4701540" cy="3350895"/>
            <a:chOff x="10605" y="3139"/>
            <a:chExt cx="7404" cy="5277"/>
          </a:xfrm>
        </p:grpSpPr>
        <p:sp>
          <p:nvSpPr>
            <p:cNvPr id="117" name="矩形 116"/>
            <p:cNvSpPr/>
            <p:nvPr/>
          </p:nvSpPr>
          <p:spPr>
            <a:xfrm>
              <a:off x="11391" y="3534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Thread0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11391" y="4231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Thread1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11391" y="6341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Thread29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11391" y="7141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Thread30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391" y="7942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Thread31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22" name="直接连接符 121"/>
            <p:cNvCxnSpPr>
              <a:stCxn id="118" idx="2"/>
              <a:endCxn id="119" idx="0"/>
            </p:cNvCxnSpPr>
            <p:nvPr/>
          </p:nvCxnSpPr>
          <p:spPr>
            <a:xfrm>
              <a:off x="12483" y="4705"/>
              <a:ext cx="0" cy="1636"/>
            </a:xfrm>
            <a:prstGeom prst="line">
              <a:avLst/>
            </a:prstGeom>
            <a:ln w="31750" cap="rnd">
              <a:solidFill>
                <a:schemeClr val="accent1"/>
              </a:solidFill>
              <a:prstDash val="sysDot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3" name="矩形 122"/>
            <p:cNvSpPr/>
            <p:nvPr/>
          </p:nvSpPr>
          <p:spPr>
            <a:xfrm>
              <a:off x="15826" y="3534"/>
              <a:ext cx="2183" cy="474"/>
            </a:xfrm>
            <a:prstGeom prst="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Node i</a:t>
              </a:r>
              <a:endPara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24" name="直接箭头连接符 123"/>
            <p:cNvCxnSpPr>
              <a:stCxn id="117" idx="3"/>
              <a:endCxn id="123" idx="1"/>
            </p:cNvCxnSpPr>
            <p:nvPr/>
          </p:nvCxnSpPr>
          <p:spPr>
            <a:xfrm>
              <a:off x="13574" y="3771"/>
              <a:ext cx="225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5" name="文本框 124"/>
            <p:cNvSpPr txBox="1"/>
            <p:nvPr/>
          </p:nvSpPr>
          <p:spPr>
            <a:xfrm>
              <a:off x="13918" y="3139"/>
              <a:ext cx="1564" cy="493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Polling</a:t>
              </a:r>
              <a:endParaRPr lang="en-US" altLang="zh-CN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26" name="右大括号 125"/>
            <p:cNvSpPr/>
            <p:nvPr/>
          </p:nvSpPr>
          <p:spPr>
            <a:xfrm>
              <a:off x="13707" y="4261"/>
              <a:ext cx="773" cy="415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14783" y="5994"/>
              <a:ext cx="2260" cy="820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charset="-122"/>
                </a:rPr>
                <a:t>Waiting</a:t>
              </a:r>
              <a:endParaRPr lang="en-US" altLang="zh-CN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30" name="左大括号 129"/>
            <p:cNvSpPr/>
            <p:nvPr/>
          </p:nvSpPr>
          <p:spPr>
            <a:xfrm>
              <a:off x="10605" y="3569"/>
              <a:ext cx="553" cy="4829"/>
            </a:xfrm>
            <a:prstGeom prst="leftBrace">
              <a:avLst>
                <a:gd name="adj1" fmla="val 8333"/>
                <a:gd name="adj2" fmla="val 5001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426463" y="6182360"/>
            <a:ext cx="11248061" cy="438912"/>
            <a:chOff x="815" y="9060"/>
            <a:chExt cx="17713" cy="691"/>
          </a:xfrm>
        </p:grpSpPr>
        <p:sp>
          <p:nvSpPr>
            <p:cNvPr id="133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问题</a:t>
              </a:r>
              <a:r>
                <a:rPr lang="en-US" altLang="zh-CN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2</a:t>
              </a:r>
              <a:endParaRPr lang="en-US" altLang="zh-CN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AutoShape 9"/>
            <p:cNvSpPr/>
            <p:nvPr/>
          </p:nvSpPr>
          <p:spPr>
            <a:xfrm>
              <a:off x="3244" y="9060"/>
              <a:ext cx="15284" cy="6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GPU-initiated Direct storage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虽然在细粒度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IO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下有良好带宽表现，但该系统仅支持同步模式，且引入了线程忙等的问题，导致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Compute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和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I/O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仍然是串行阻塞执行，计算资源被浪费</a:t>
              </a:r>
              <a:endParaRPr lang="zh-CN" altLang="en-US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原有轮询机制在异步模式下会导致死锁</a:t>
            </a:r>
            <a:endParaRPr lang="zh-CN" alt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426463" y="6182360"/>
            <a:ext cx="11248061" cy="438912"/>
            <a:chOff x="815" y="9060"/>
            <a:chExt cx="17713" cy="691"/>
          </a:xfrm>
        </p:grpSpPr>
        <p:sp>
          <p:nvSpPr>
            <p:cNvPr id="133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问题</a:t>
              </a:r>
              <a:r>
                <a:rPr lang="en-US" altLang="zh-CN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3</a:t>
              </a:r>
              <a:endParaRPr lang="en-US" altLang="zh-CN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AutoShape 9"/>
            <p:cNvSpPr/>
            <p:nvPr/>
          </p:nvSpPr>
          <p:spPr>
            <a:xfrm>
              <a:off x="3244" y="9060"/>
              <a:ext cx="15284" cy="6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异步模式下，多个请求按 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FIFO 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提交后，如果队首请求卡在轮询/回收阶段，后面的请求即使先完成也不能先消费，只能排队等待，最终形成队首阻塞并最终形成死锁。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无法应对推理场景下无序的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IO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请求提交</a:t>
              </a:r>
              <a:endParaRPr lang="zh-CN" altLang="en-US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5" name="圆角矩形 24"/>
          <p:cNvSpPr/>
          <p:nvPr/>
        </p:nvSpPr>
        <p:spPr>
          <a:xfrm>
            <a:off x="354330" y="5210175"/>
            <a:ext cx="2440940" cy="7575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线程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数据强耦合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268980" y="5210175"/>
            <a:ext cx="2440940" cy="7575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IO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请求随机提交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6183630" y="5210175"/>
            <a:ext cx="2440940" cy="7575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以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FIFO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顺序轮询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098280" y="5210175"/>
            <a:ext cx="2440940" cy="757555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SQ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CQ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死锁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" name="直接箭头连接符 6"/>
          <p:cNvCxnSpPr>
            <a:endCxn id="8" idx="1"/>
          </p:cNvCxnSpPr>
          <p:nvPr>
            <p:custDataLst>
              <p:tags r:id="rId1"/>
            </p:custDataLst>
          </p:nvPr>
        </p:nvCxnSpPr>
        <p:spPr>
          <a:xfrm>
            <a:off x="867410" y="2085340"/>
            <a:ext cx="1499235" cy="2032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238125" y="1764030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1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 rot="5400000">
            <a:off x="238125" y="2572385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data2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 5"/>
          <p:cNvSpPr/>
          <p:nvPr/>
        </p:nvSpPr>
        <p:spPr>
          <a:xfrm rot="5400000">
            <a:off x="238125" y="3380740"/>
            <a:ext cx="808355" cy="450215"/>
          </a:xfrm>
          <a:prstGeom prst="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3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同心圆 7"/>
          <p:cNvSpPr/>
          <p:nvPr>
            <p:custDataLst>
              <p:tags r:id="rId2"/>
            </p:custDataLst>
          </p:nvPr>
        </p:nvSpPr>
        <p:spPr>
          <a:xfrm>
            <a:off x="2230120" y="1966595"/>
            <a:ext cx="931545" cy="94996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76500" y="2303780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SQ 0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4" name="直接箭头连接符 43"/>
          <p:cNvCxnSpPr>
            <a:endCxn id="8" idx="2"/>
          </p:cNvCxnSpPr>
          <p:nvPr>
            <p:custDataLst>
              <p:tags r:id="rId4"/>
            </p:custDataLst>
          </p:nvPr>
        </p:nvCxnSpPr>
        <p:spPr>
          <a:xfrm flipV="1">
            <a:off x="869950" y="2441575"/>
            <a:ext cx="1360170" cy="47117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6" idx="0"/>
            <a:endCxn id="8" idx="3"/>
          </p:cNvCxnSpPr>
          <p:nvPr/>
        </p:nvCxnSpPr>
        <p:spPr>
          <a:xfrm flipV="1">
            <a:off x="867410" y="2777490"/>
            <a:ext cx="1499235" cy="82867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8" idx="7"/>
            <a:endCxn id="58" idx="1"/>
          </p:cNvCxnSpPr>
          <p:nvPr>
            <p:custDataLst>
              <p:tags r:id="rId5"/>
            </p:custDataLst>
          </p:nvPr>
        </p:nvCxnSpPr>
        <p:spPr>
          <a:xfrm>
            <a:off x="3025140" y="2105660"/>
            <a:ext cx="9353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灯片编号占位符 55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58" name="同心圆 57"/>
          <p:cNvSpPr/>
          <p:nvPr>
            <p:custDataLst>
              <p:tags r:id="rId6"/>
            </p:custDataLst>
          </p:nvPr>
        </p:nvSpPr>
        <p:spPr>
          <a:xfrm>
            <a:off x="3823970" y="1966595"/>
            <a:ext cx="931545" cy="94996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/>
          <p:cNvSpPr txBox="1"/>
          <p:nvPr>
            <p:custDataLst>
              <p:tags r:id="rId7"/>
            </p:custDataLst>
          </p:nvPr>
        </p:nvSpPr>
        <p:spPr>
          <a:xfrm>
            <a:off x="3966845" y="2252345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0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0" name="直接箭头连接符 59"/>
          <p:cNvCxnSpPr>
            <a:stCxn id="8" idx="6"/>
            <a:endCxn id="58" idx="2"/>
          </p:cNvCxnSpPr>
          <p:nvPr>
            <p:custDataLst>
              <p:tags r:id="rId8"/>
            </p:custDataLst>
          </p:nvPr>
        </p:nvCxnSpPr>
        <p:spPr>
          <a:xfrm>
            <a:off x="3161665" y="2441575"/>
            <a:ext cx="66230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8" idx="5"/>
            <a:endCxn id="58" idx="3"/>
          </p:cNvCxnSpPr>
          <p:nvPr>
            <p:custDataLst>
              <p:tags r:id="rId9"/>
            </p:custDataLst>
          </p:nvPr>
        </p:nvCxnSpPr>
        <p:spPr>
          <a:xfrm>
            <a:off x="3025140" y="2777490"/>
            <a:ext cx="93535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右箭头 61"/>
          <p:cNvSpPr/>
          <p:nvPr>
            <p:custDataLst>
              <p:tags r:id="rId10"/>
            </p:custDataLst>
          </p:nvPr>
        </p:nvSpPr>
        <p:spPr>
          <a:xfrm>
            <a:off x="4875530" y="2229485"/>
            <a:ext cx="1520190" cy="349885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7" name="组合 66"/>
          <p:cNvGrpSpPr/>
          <p:nvPr/>
        </p:nvGrpSpPr>
        <p:grpSpPr>
          <a:xfrm>
            <a:off x="9717405" y="1532255"/>
            <a:ext cx="2073910" cy="2073910"/>
            <a:chOff x="12932" y="2133"/>
            <a:chExt cx="3266" cy="3266"/>
          </a:xfrm>
        </p:grpSpPr>
        <p:sp>
          <p:nvSpPr>
            <p:cNvPr id="63" name="同心圆 62"/>
            <p:cNvSpPr/>
            <p:nvPr/>
          </p:nvSpPr>
          <p:spPr>
            <a:xfrm>
              <a:off x="12932" y="2133"/>
              <a:ext cx="3267" cy="3267"/>
            </a:xfrm>
            <a:prstGeom prst="donu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3904" y="3448"/>
              <a:ext cx="1530" cy="8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</a:rPr>
                <a:t>CQ 0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68" name="矩形 67"/>
          <p:cNvSpPr/>
          <p:nvPr/>
        </p:nvSpPr>
        <p:spPr>
          <a:xfrm>
            <a:off x="7949565" y="2291080"/>
            <a:ext cx="1440180" cy="568325"/>
          </a:xfrm>
          <a:prstGeom prst="rect">
            <a:avLst/>
          </a:prstGeom>
          <a:solidFill>
            <a:schemeClr val="accent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1 poll</a:t>
            </a:r>
            <a:endParaRPr lang="en-US" altLang="zh-CN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032240" y="1233170"/>
            <a:ext cx="1302385" cy="816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2</a:t>
            </a:r>
            <a:endParaRPr lang="en-US" altLang="zh-CN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先传输完成</a:t>
            </a:r>
            <a:endParaRPr lang="zh-CN" altLang="en-US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66645" y="1536065"/>
            <a:ext cx="2465070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FIFO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的顺序进行轮询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516370" y="2291080"/>
            <a:ext cx="1440180" cy="56832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2 poll</a:t>
            </a:r>
            <a:endParaRPr lang="en-US" altLang="zh-CN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2" name="直接箭头连接符 71"/>
          <p:cNvCxnSpPr>
            <a:stCxn id="68" idx="3"/>
            <a:endCxn id="63" idx="2"/>
          </p:cNvCxnSpPr>
          <p:nvPr/>
        </p:nvCxnSpPr>
        <p:spPr>
          <a:xfrm flipV="1">
            <a:off x="9389745" y="2569845"/>
            <a:ext cx="32766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4755515" y="3298190"/>
            <a:ext cx="5259070" cy="16306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data1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线程先进行轮询，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的数据先完成传输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此时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1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的线程无法取出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的数据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的线程被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1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的线程阻塞，无法取出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 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，导致</a:t>
            </a:r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死锁</a:t>
            </a:r>
            <a:endParaRPr lang="zh-CN" altLang="en-US" sz="1800" b="1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提纲</a:t>
            </a:r>
            <a:endParaRPr 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7011" y="1708294"/>
            <a:ext cx="7915708" cy="17995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研究背景</a:t>
            </a:r>
            <a:endParaRPr lang="en-US" sz="1100"/>
          </a:p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研究现状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50000"/>
              </a:lnSpc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2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研究方案</a:t>
            </a:r>
            <a:endParaRPr lang="en-US" sz="20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研究</a:t>
            </a:r>
            <a:r>
              <a:rPr lang="zh-CN" alt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规划</a:t>
            </a:r>
            <a:endParaRPr lang="zh-CN" alt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问题一方案：细粒度预取流水线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99158" y="5779686"/>
            <a:ext cx="11248061" cy="908313"/>
            <a:chOff x="815" y="8601"/>
            <a:chExt cx="17713" cy="1430"/>
          </a:xfrm>
        </p:grpSpPr>
        <p:sp>
          <p:nvSpPr>
            <p:cNvPr id="41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解决方案</a:t>
              </a:r>
              <a:endPara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42" name="AutoShape 9"/>
            <p:cNvSpPr/>
            <p:nvPr/>
          </p:nvSpPr>
          <p:spPr>
            <a:xfrm>
              <a:off x="3244" y="8601"/>
              <a:ext cx="15284" cy="14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异步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GPU-initiated 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路径可以把 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KV restore 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从 </a:t>
              </a:r>
              <a:r>
                <a:rPr 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Chunk 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级的大粒度读取，转化为支持局部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KV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预取与层级预取的细粒度数据与后台流水线，稀疏注意力可以让每个请求只恢复最有价值的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kv block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，从而减少每个请求占用的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GPU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显存，为多会话长上下文按层预取与并行计算创造提供系统支持。</a:t>
              </a:r>
              <a:endParaRPr lang="zh-CN" altLang="en-US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737995" y="1150620"/>
            <a:ext cx="10431780" cy="4526280"/>
            <a:chOff x="239" y="1812"/>
            <a:chExt cx="16428" cy="7128"/>
          </a:xfrm>
        </p:grpSpPr>
        <p:sp>
          <p:nvSpPr>
            <p:cNvPr id="4" name="文本框 3"/>
            <p:cNvSpPr txBox="1"/>
            <p:nvPr/>
          </p:nvSpPr>
          <p:spPr>
            <a:xfrm>
              <a:off x="7699" y="1812"/>
              <a:ext cx="64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Transformer layers</a:t>
              </a:r>
              <a:endParaRPr lang="en-US" altLang="zh-CN"/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256" y="2282"/>
              <a:ext cx="1630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2" name="组合 21"/>
            <p:cNvGrpSpPr/>
            <p:nvPr/>
          </p:nvGrpSpPr>
          <p:grpSpPr>
            <a:xfrm>
              <a:off x="1565" y="2394"/>
              <a:ext cx="2054" cy="4378"/>
              <a:chOff x="1581" y="2483"/>
              <a:chExt cx="2054" cy="437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1</a:t>
                </a:r>
                <a:endParaRPr lang="en-US" altLang="zh-CN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1581" y="4485"/>
                <a:ext cx="2037" cy="78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Select L2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1581" y="607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L2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直接箭头连接符 19"/>
              <p:cNvCxnSpPr>
                <a:stCxn id="8" idx="2"/>
                <a:endCxn id="16" idx="0"/>
              </p:cNvCxnSpPr>
              <p:nvPr/>
            </p:nvCxnSpPr>
            <p:spPr>
              <a:xfrm flipH="1">
                <a:off x="2600" y="3682"/>
                <a:ext cx="9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>
                <a:stCxn id="16" idx="2"/>
                <a:endCxn id="17" idx="0"/>
              </p:cNvCxnSpPr>
              <p:nvPr/>
            </p:nvCxnSpPr>
            <p:spPr>
              <a:xfrm>
                <a:off x="2600" y="5272"/>
                <a:ext cx="0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/>
            <p:cNvGrpSpPr/>
            <p:nvPr/>
          </p:nvGrpSpPr>
          <p:grpSpPr>
            <a:xfrm>
              <a:off x="5215" y="2380"/>
              <a:ext cx="2054" cy="4378"/>
              <a:chOff x="1581" y="2483"/>
              <a:chExt cx="2054" cy="4378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2</a:t>
                </a:r>
                <a:endParaRPr lang="en-US" altLang="zh-CN"/>
              </a:p>
            </p:txBody>
          </p:sp>
          <p:sp>
            <p:nvSpPr>
              <p:cNvPr id="26" name="圆角矩形 25"/>
              <p:cNvSpPr/>
              <p:nvPr/>
            </p:nvSpPr>
            <p:spPr>
              <a:xfrm>
                <a:off x="1581" y="4485"/>
                <a:ext cx="2037" cy="78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Select L3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圆角矩形 26"/>
              <p:cNvSpPr/>
              <p:nvPr/>
            </p:nvSpPr>
            <p:spPr>
              <a:xfrm>
                <a:off x="1581" y="607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L3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接箭头连接符 27"/>
              <p:cNvCxnSpPr>
                <a:stCxn id="24" idx="2"/>
                <a:endCxn id="26" idx="0"/>
              </p:cNvCxnSpPr>
              <p:nvPr/>
            </p:nvCxnSpPr>
            <p:spPr>
              <a:xfrm flipH="1">
                <a:off x="2600" y="3682"/>
                <a:ext cx="9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stCxn id="26" idx="2"/>
                <a:endCxn id="27" idx="0"/>
              </p:cNvCxnSpPr>
              <p:nvPr/>
            </p:nvCxnSpPr>
            <p:spPr>
              <a:xfrm>
                <a:off x="2600" y="5272"/>
                <a:ext cx="0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/>
            <p:cNvGrpSpPr/>
            <p:nvPr/>
          </p:nvGrpSpPr>
          <p:grpSpPr>
            <a:xfrm>
              <a:off x="8832" y="2415"/>
              <a:ext cx="2054" cy="4378"/>
              <a:chOff x="1581" y="2483"/>
              <a:chExt cx="2054" cy="4378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3</a:t>
                </a:r>
                <a:endParaRPr lang="en-US" altLang="zh-CN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1581" y="4485"/>
                <a:ext cx="2037" cy="78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Select L4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1581" y="607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L4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接箭头连接符 45"/>
              <p:cNvCxnSpPr>
                <a:stCxn id="32" idx="2"/>
                <a:endCxn id="44" idx="0"/>
              </p:cNvCxnSpPr>
              <p:nvPr/>
            </p:nvCxnSpPr>
            <p:spPr>
              <a:xfrm flipH="1">
                <a:off x="2600" y="3682"/>
                <a:ext cx="9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44" idx="2"/>
                <a:endCxn id="45" idx="0"/>
              </p:cNvCxnSpPr>
              <p:nvPr/>
            </p:nvCxnSpPr>
            <p:spPr>
              <a:xfrm>
                <a:off x="2600" y="5272"/>
                <a:ext cx="0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/>
            <p:cNvGrpSpPr/>
            <p:nvPr/>
          </p:nvGrpSpPr>
          <p:grpSpPr>
            <a:xfrm>
              <a:off x="12481" y="2427"/>
              <a:ext cx="2054" cy="4378"/>
              <a:chOff x="1581" y="2483"/>
              <a:chExt cx="2054" cy="4378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1581" y="2996"/>
                <a:ext cx="2055" cy="686"/>
              </a:xfrm>
              <a:prstGeom prst="rect">
                <a:avLst/>
              </a:prstGeom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Attention</a:t>
                </a:r>
                <a:endParaRPr lang="en-US" altLang="zh-CN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991" y="2483"/>
                <a:ext cx="1266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Layer 4</a:t>
                </a:r>
                <a:endParaRPr lang="en-US" altLang="zh-CN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1581" y="4485"/>
                <a:ext cx="2037" cy="78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Select L5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圆角矩形 51"/>
              <p:cNvSpPr/>
              <p:nvPr/>
            </p:nvSpPr>
            <p:spPr>
              <a:xfrm>
                <a:off x="1581" y="6075"/>
                <a:ext cx="2037" cy="78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Prefetch L5 KV from SSD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3" name="直接箭头连接符 52"/>
              <p:cNvCxnSpPr>
                <a:stCxn id="49" idx="2"/>
                <a:endCxn id="51" idx="0"/>
              </p:cNvCxnSpPr>
              <p:nvPr/>
            </p:nvCxnSpPr>
            <p:spPr>
              <a:xfrm flipH="1">
                <a:off x="2600" y="3682"/>
                <a:ext cx="9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51" idx="2"/>
                <a:endCxn id="52" idx="0"/>
              </p:cNvCxnSpPr>
              <p:nvPr/>
            </p:nvCxnSpPr>
            <p:spPr>
              <a:xfrm>
                <a:off x="2600" y="5272"/>
                <a:ext cx="0" cy="803"/>
              </a:xfrm>
              <a:prstGeom prst="straightConnector1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tailEnd type="arrow" w="med" len="med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组合 59"/>
            <p:cNvGrpSpPr/>
            <p:nvPr/>
          </p:nvGrpSpPr>
          <p:grpSpPr>
            <a:xfrm>
              <a:off x="629" y="7089"/>
              <a:ext cx="4069" cy="582"/>
              <a:chOff x="629" y="7089"/>
              <a:chExt cx="4069" cy="582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29" y="7089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L1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3602" y="7089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56" name="直接箭头连接符 55"/>
              <p:cNvCxnSpPr>
                <a:stCxn id="18" idx="3"/>
                <a:endCxn id="55" idx="1"/>
              </p:cNvCxnSpPr>
              <p:nvPr/>
            </p:nvCxnSpPr>
            <p:spPr>
              <a:xfrm>
                <a:off x="2033" y="7380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/>
            <p:cNvGrpSpPr/>
            <p:nvPr/>
          </p:nvGrpSpPr>
          <p:grpSpPr>
            <a:xfrm>
              <a:off x="4351" y="7430"/>
              <a:ext cx="4069" cy="582"/>
              <a:chOff x="629" y="7089"/>
              <a:chExt cx="4069" cy="582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629" y="7089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L2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3602" y="7089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64" name="直接箭头连接符 63"/>
              <p:cNvCxnSpPr>
                <a:stCxn id="62" idx="3"/>
                <a:endCxn id="63" idx="1"/>
              </p:cNvCxnSpPr>
              <p:nvPr/>
            </p:nvCxnSpPr>
            <p:spPr>
              <a:xfrm>
                <a:off x="2033" y="7380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5" name="组合 64"/>
            <p:cNvGrpSpPr/>
            <p:nvPr/>
          </p:nvGrpSpPr>
          <p:grpSpPr>
            <a:xfrm>
              <a:off x="8073" y="7844"/>
              <a:ext cx="4069" cy="582"/>
              <a:chOff x="629" y="7089"/>
              <a:chExt cx="4069" cy="582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629" y="7089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L3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3602" y="7089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68" name="直接箭头连接符 67"/>
              <p:cNvCxnSpPr>
                <a:stCxn id="66" idx="3"/>
                <a:endCxn id="67" idx="1"/>
              </p:cNvCxnSpPr>
              <p:nvPr/>
            </p:nvCxnSpPr>
            <p:spPr>
              <a:xfrm>
                <a:off x="2033" y="7380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/>
            <p:cNvGrpSpPr/>
            <p:nvPr/>
          </p:nvGrpSpPr>
          <p:grpSpPr>
            <a:xfrm>
              <a:off x="11630" y="8358"/>
              <a:ext cx="4069" cy="582"/>
              <a:chOff x="629" y="7089"/>
              <a:chExt cx="4069" cy="582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629" y="7089"/>
                <a:ext cx="1404" cy="582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L4 KV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3602" y="7089"/>
                <a:ext cx="1096" cy="5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ea typeface="宋体" panose="02010600030101010101" pitchFamily="2" charset="-122"/>
                  </a:rPr>
                  <a:t>淘汰</a:t>
                </a:r>
                <a:endParaRPr lang="zh-CN" altLang="en-US">
                  <a:ea typeface="宋体" panose="02010600030101010101" pitchFamily="2" charset="-122"/>
                </a:endParaRPr>
              </a:p>
            </p:txBody>
          </p:sp>
          <p:cxnSp>
            <p:nvCxnSpPr>
              <p:cNvPr id="73" name="直接箭头连接符 72"/>
              <p:cNvCxnSpPr>
                <a:stCxn id="71" idx="3"/>
                <a:endCxn id="72" idx="1"/>
              </p:cNvCxnSpPr>
              <p:nvPr/>
            </p:nvCxnSpPr>
            <p:spPr>
              <a:xfrm>
                <a:off x="2033" y="7380"/>
                <a:ext cx="156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4" name="直接连接符 73"/>
            <p:cNvCxnSpPr/>
            <p:nvPr/>
          </p:nvCxnSpPr>
          <p:spPr>
            <a:xfrm flipV="1">
              <a:off x="239" y="6937"/>
              <a:ext cx="16428" cy="51"/>
            </a:xfrm>
            <a:prstGeom prst="line">
              <a:avLst/>
            </a:prstGeom>
            <a:ln w="12700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8" idx="3"/>
              <a:endCxn id="24" idx="1"/>
            </p:cNvCxnSpPr>
            <p:nvPr/>
          </p:nvCxnSpPr>
          <p:spPr>
            <a:xfrm flipV="1">
              <a:off x="3620" y="3236"/>
              <a:ext cx="159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7270" y="3250"/>
              <a:ext cx="159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flipV="1">
              <a:off x="10887" y="3264"/>
              <a:ext cx="1595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49" idx="3"/>
            </p:cNvCxnSpPr>
            <p:nvPr/>
          </p:nvCxnSpPr>
          <p:spPr>
            <a:xfrm flipV="1">
              <a:off x="14536" y="3272"/>
              <a:ext cx="2028" cy="1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9" name="文本框 78"/>
            <p:cNvSpPr txBox="1"/>
            <p:nvPr/>
          </p:nvSpPr>
          <p:spPr>
            <a:xfrm>
              <a:off x="2737" y="3741"/>
              <a:ext cx="1266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Predict</a:t>
              </a:r>
              <a:endParaRPr lang="en-US" altLang="zh-CN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6433" y="3741"/>
              <a:ext cx="1266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Predict</a:t>
              </a:r>
              <a:endParaRPr lang="en-US" altLang="zh-CN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0129" y="3741"/>
              <a:ext cx="1266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Predict</a:t>
              </a:r>
              <a:endParaRPr lang="en-US" altLang="zh-CN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3722" y="3741"/>
              <a:ext cx="1266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Predict</a:t>
              </a:r>
              <a:endParaRPr lang="en-US" altLang="zh-CN"/>
            </a:p>
          </p:txBody>
        </p:sp>
      </p:grpSp>
      <p:grpSp>
        <p:nvGrpSpPr>
          <p:cNvPr id="85" name="组合 84"/>
          <p:cNvGrpSpPr/>
          <p:nvPr>
            <p:custDataLst>
              <p:tags r:id="rId1"/>
            </p:custDataLst>
          </p:nvPr>
        </p:nvGrpSpPr>
        <p:grpSpPr>
          <a:xfrm>
            <a:off x="45720" y="1457325"/>
            <a:ext cx="1572895" cy="4220210"/>
            <a:chOff x="12814" y="2214"/>
            <a:chExt cx="5727" cy="1964"/>
          </a:xfrm>
        </p:grpSpPr>
        <p:sp>
          <p:nvSpPr>
            <p:cNvPr id="86" name="矩形 85"/>
            <p:cNvSpPr/>
            <p:nvPr>
              <p:custDataLst>
                <p:tags r:id="rId2"/>
              </p:custDataLst>
            </p:nvPr>
          </p:nvSpPr>
          <p:spPr>
            <a:xfrm>
              <a:off x="12814" y="2214"/>
              <a:ext cx="5727" cy="196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文本框 86"/>
            <p:cNvSpPr txBox="1"/>
            <p:nvPr>
              <p:custDataLst>
                <p:tags r:id="rId3"/>
              </p:custDataLst>
            </p:nvPr>
          </p:nvSpPr>
          <p:spPr>
            <a:xfrm>
              <a:off x="12999" y="2214"/>
              <a:ext cx="5386" cy="18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Predit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：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稀疏注意力选择策略，只选重要的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进行读取，减少单个长上下文对</a:t>
              </a:r>
              <a:r>
                <a:rPr lang="en-US" altLang="zh-CN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GPU</a:t>
              </a:r>
              <a:r>
                <a:rPr lang="zh-CN" altLang="en-US" sz="18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显存的占用</a:t>
              </a:r>
              <a:endPara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xfrm>
            <a:off x="109855" y="0"/>
            <a:ext cx="11981180" cy="1085215"/>
          </a:xfrm>
          <a:prstGeom prst="rect">
            <a:avLst/>
          </a:prstGeom>
        </p:spPr>
        <p:txBody>
          <a:bodyPr wrap="square" lIns="91440" tIns="45720" rIns="91440" bIns="45720" anchor="ctr">
            <a:normAutofit fontScale="90000"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GranuleKV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：面向 </a:t>
            </a: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SSD-backed KV Cache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细粒度异步 </a:t>
            </a:r>
            <a:r>
              <a:rPr lang="en-US" altLang="zh-CN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I/O </a:t>
            </a: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后端</a:t>
            </a:r>
            <a:endParaRPr lang="zh-CN" altLang="en-US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426463" y="6182360"/>
            <a:ext cx="11248061" cy="438912"/>
            <a:chOff x="815" y="9060"/>
            <a:chExt cx="17713" cy="691"/>
          </a:xfrm>
        </p:grpSpPr>
        <p:sp>
          <p:nvSpPr>
            <p:cNvPr id="133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解决方案</a:t>
              </a:r>
              <a:endPara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AutoShape 9"/>
            <p:cNvSpPr/>
            <p:nvPr/>
          </p:nvSpPr>
          <p:spPr>
            <a:xfrm>
              <a:off x="3244" y="9060"/>
              <a:ext cx="15284" cy="6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IO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请求由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GPU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无阻塞发起，轻量化常驻后台线程轮询取代原先的强耦合轮询，提供异步功能的同时减少了忙等线程对计算资源的占用</a:t>
              </a:r>
              <a:endParaRPr lang="zh-CN" altLang="en-US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1" name="矩形 20"/>
          <p:cNvSpPr/>
          <p:nvPr>
            <p:custDataLst>
              <p:tags r:id="rId1"/>
            </p:custDataLst>
          </p:nvPr>
        </p:nvSpPr>
        <p:spPr>
          <a:xfrm>
            <a:off x="7215505" y="155003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Thread0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7215505" y="229044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7215505" y="365442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Thread31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连接符 25"/>
          <p:cNvCxnSpPr>
            <a:stCxn id="22" idx="2"/>
            <a:endCxn id="25" idx="0"/>
          </p:cNvCxnSpPr>
          <p:nvPr>
            <p:custDataLst>
              <p:tags r:id="rId4"/>
            </p:custDataLst>
          </p:nvPr>
        </p:nvCxnSpPr>
        <p:spPr>
          <a:xfrm>
            <a:off x="7908925" y="2591435"/>
            <a:ext cx="0" cy="106299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5"/>
            </p:custDataLst>
          </p:nvPr>
        </p:nvSpPr>
        <p:spPr>
          <a:xfrm>
            <a:off x="6687820" y="1342390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6687820" y="2064385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7"/>
            </p:custDataLst>
          </p:nvPr>
        </p:nvSpPr>
        <p:spPr>
          <a:xfrm>
            <a:off x="6637655" y="3399155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同心圆 4"/>
          <p:cNvSpPr/>
          <p:nvPr>
            <p:custDataLst>
              <p:tags r:id="rId8"/>
            </p:custDataLst>
          </p:nvPr>
        </p:nvSpPr>
        <p:spPr>
          <a:xfrm>
            <a:off x="5951855" y="1270000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6050280" y="1499870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0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同心圆 6"/>
          <p:cNvSpPr/>
          <p:nvPr>
            <p:custDataLst>
              <p:tags r:id="rId10"/>
            </p:custDataLst>
          </p:nvPr>
        </p:nvSpPr>
        <p:spPr>
          <a:xfrm>
            <a:off x="5934710" y="2064385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6024245" y="2268855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同心圆 9"/>
          <p:cNvSpPr/>
          <p:nvPr>
            <p:custDataLst>
              <p:tags r:id="rId12"/>
            </p:custDataLst>
          </p:nvPr>
        </p:nvSpPr>
        <p:spPr>
          <a:xfrm>
            <a:off x="5934710" y="3424555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5996305" y="3654425"/>
            <a:ext cx="732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31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03070" y="2627630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16KB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703070" y="3077845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16KB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703070" y="4235450"/>
            <a:ext cx="808355" cy="450215"/>
          </a:xfrm>
          <a:prstGeom prst="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16KB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7" name="直接箭头连接符 46"/>
          <p:cNvCxnSpPr>
            <a:endCxn id="48" idx="2"/>
          </p:cNvCxnSpPr>
          <p:nvPr/>
        </p:nvCxnSpPr>
        <p:spPr>
          <a:xfrm flipV="1">
            <a:off x="2597150" y="3743325"/>
            <a:ext cx="981075" cy="57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同心圆 47"/>
          <p:cNvSpPr/>
          <p:nvPr/>
        </p:nvSpPr>
        <p:spPr>
          <a:xfrm>
            <a:off x="3578225" y="3200400"/>
            <a:ext cx="1085215" cy="1085215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583815" y="3190240"/>
            <a:ext cx="1105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无阻塞提交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902710" y="3562350"/>
            <a:ext cx="671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SQ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891665" y="3591560"/>
            <a:ext cx="496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3" name="直接连接符 2"/>
          <p:cNvCxnSpPr>
            <a:stCxn id="25" idx="2"/>
          </p:cNvCxnSpPr>
          <p:nvPr/>
        </p:nvCxnSpPr>
        <p:spPr>
          <a:xfrm>
            <a:off x="7908925" y="3955415"/>
            <a:ext cx="10160" cy="88455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7" idx="4"/>
            <a:endCxn id="10" idx="0"/>
          </p:cNvCxnSpPr>
          <p:nvPr>
            <p:custDataLst>
              <p:tags r:id="rId14"/>
            </p:custDataLst>
          </p:nvPr>
        </p:nvCxnSpPr>
        <p:spPr>
          <a:xfrm>
            <a:off x="6295390" y="2776855"/>
            <a:ext cx="0" cy="64770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0" idx="4"/>
          </p:cNvCxnSpPr>
          <p:nvPr/>
        </p:nvCxnSpPr>
        <p:spPr>
          <a:xfrm flipH="1">
            <a:off x="6288405" y="4137025"/>
            <a:ext cx="6985" cy="64579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07645" y="1113790"/>
            <a:ext cx="4410075" cy="368300"/>
            <a:chOff x="745" y="1709"/>
            <a:chExt cx="11796" cy="580"/>
          </a:xfrm>
        </p:grpSpPr>
        <p:sp>
          <p:nvSpPr>
            <p:cNvPr id="35" name="矩形 34"/>
            <p:cNvSpPr/>
            <p:nvPr/>
          </p:nvSpPr>
          <p:spPr>
            <a:xfrm>
              <a:off x="745" y="1869"/>
              <a:ext cx="288" cy="274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77" y="1709"/>
              <a:ext cx="113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800" b="1">
                  <a:latin typeface="微软雅黑" panose="020B0503020204020204" charset="-122"/>
                  <a:ea typeface="微软雅黑" panose="020B0503020204020204" charset="-122"/>
                </a:rPr>
                <a:t>vLLM</a:t>
              </a:r>
              <a:r>
                <a:rPr lang="zh-CN" altLang="en-US" sz="1800" b="1">
                  <a:latin typeface="微软雅黑" panose="020B0503020204020204" charset="-122"/>
                  <a:ea typeface="微软雅黑" panose="020B0503020204020204" charset="-122"/>
                </a:rPr>
                <a:t>以</a:t>
              </a:r>
              <a:r>
                <a:rPr lang="en-US" altLang="zh-CN" sz="1800" b="1">
                  <a:latin typeface="微软雅黑" panose="020B0503020204020204" charset="-122"/>
                  <a:ea typeface="微软雅黑" panose="020B0503020204020204" charset="-122"/>
                </a:rPr>
                <a:t>BLock</a:t>
              </a:r>
              <a:r>
                <a:rPr lang="zh-CN" altLang="en-US" sz="1800" b="1">
                  <a:latin typeface="微软雅黑" panose="020B0503020204020204" charset="-122"/>
                  <a:ea typeface="微软雅黑" panose="020B0503020204020204" charset="-122"/>
                </a:rPr>
                <a:t>为调度单位</a:t>
              </a:r>
              <a:endParaRPr lang="zh-CN" altLang="en-US" sz="18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196215" y="1744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细粒度元数据形状</a:t>
            </a:r>
            <a:endParaRPr lang="zh-CN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 rot="5400000">
            <a:off x="9887585" y="2579370"/>
            <a:ext cx="3669030" cy="737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Attention Compute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577590" y="5157470"/>
            <a:ext cx="6658610" cy="707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Granule KV: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后台常驻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 Server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箭头连接符 54"/>
          <p:cNvCxnSpPr>
            <a:stCxn id="21" idx="3"/>
          </p:cNvCxnSpPr>
          <p:nvPr>
            <p:custDataLst>
              <p:tags r:id="rId15"/>
            </p:custDataLst>
          </p:nvPr>
        </p:nvCxnSpPr>
        <p:spPr>
          <a:xfrm flipV="1">
            <a:off x="8601710" y="1692910"/>
            <a:ext cx="83947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>
            <p:custDataLst>
              <p:tags r:id="rId16"/>
            </p:custDataLst>
          </p:nvPr>
        </p:nvCxnSpPr>
        <p:spPr>
          <a:xfrm flipV="1">
            <a:off x="8642350" y="2437130"/>
            <a:ext cx="83947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>
            <p:custDataLst>
              <p:tags r:id="rId17"/>
            </p:custDataLst>
          </p:nvPr>
        </p:nvCxnSpPr>
        <p:spPr>
          <a:xfrm flipV="1">
            <a:off x="8601710" y="3797300"/>
            <a:ext cx="83947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18"/>
            </p:custDataLst>
          </p:nvPr>
        </p:nvSpPr>
        <p:spPr>
          <a:xfrm>
            <a:off x="8682355" y="1357630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传输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9"/>
            </p:custDataLst>
          </p:nvPr>
        </p:nvSpPr>
        <p:spPr>
          <a:xfrm>
            <a:off x="8681720" y="2079625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传输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20"/>
            </p:custDataLst>
          </p:nvPr>
        </p:nvSpPr>
        <p:spPr>
          <a:xfrm>
            <a:off x="8682355" y="3491865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传输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1" name="直接箭头连接符 60"/>
          <p:cNvCxnSpPr>
            <a:stCxn id="19" idx="0"/>
            <a:endCxn id="49" idx="2"/>
          </p:cNvCxnSpPr>
          <p:nvPr/>
        </p:nvCxnSpPr>
        <p:spPr>
          <a:xfrm>
            <a:off x="10236835" y="2948305"/>
            <a:ext cx="11163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V="1">
            <a:off x="6905625" y="3874770"/>
            <a:ext cx="0" cy="12325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9062085" y="3874770"/>
            <a:ext cx="0" cy="12325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左大括号 13"/>
          <p:cNvSpPr/>
          <p:nvPr/>
        </p:nvSpPr>
        <p:spPr>
          <a:xfrm>
            <a:off x="1241425" y="2621915"/>
            <a:ext cx="311150" cy="206692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83515" y="3173730"/>
            <a:ext cx="1062355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4940" y="2101215"/>
            <a:ext cx="56419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00000"/>
              </a:lnSpc>
              <a:defRPr/>
            </a:pPr>
            <a:r>
              <a:rPr lang="zh-CN" altLang="en-US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元数据</a:t>
            </a:r>
            <a:r>
              <a:rPr lang="en-US" altLang="zh-CN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= 16 tokens × 4 KV heads × 128 dim × 2 bytes =</a:t>
            </a:r>
            <a:r>
              <a:rPr lang="en-US" altLang="zh-CN" b="1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16KB</a:t>
            </a:r>
            <a:endParaRPr lang="en-US" altLang="zh-CN" b="1">
              <a:solidFill>
                <a:srgbClr val="1F1F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13" name="直接箭头连接符 12"/>
          <p:cNvCxnSpPr>
            <a:stCxn id="21" idx="1"/>
          </p:cNvCxnSpPr>
          <p:nvPr/>
        </p:nvCxnSpPr>
        <p:spPr>
          <a:xfrm flipH="1" flipV="1">
            <a:off x="6773545" y="1697355"/>
            <a:ext cx="44196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6773545" y="2444750"/>
            <a:ext cx="44196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6773545" y="3804920"/>
            <a:ext cx="44196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 rot="5400000">
            <a:off x="8033385" y="2579370"/>
            <a:ext cx="3669030" cy="7378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GPU-side KV Cache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327005" y="2377440"/>
            <a:ext cx="1026160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发起计算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上下箭头 26"/>
          <p:cNvSpPr/>
          <p:nvPr/>
        </p:nvSpPr>
        <p:spPr>
          <a:xfrm>
            <a:off x="3971290" y="4398010"/>
            <a:ext cx="288925" cy="648970"/>
          </a:xfrm>
          <a:prstGeom prst="upDownArrow">
            <a:avLst/>
          </a:prstGeom>
          <a:solidFill>
            <a:srgbClr val="FF0000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0490" y="14458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block = 28 layers × 2(K/V) ×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16KB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896KB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问题三方案：解决死锁问题</a:t>
            </a:r>
            <a:endParaRPr lang="zh-CN" alt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426463" y="6182360"/>
            <a:ext cx="11248061" cy="438912"/>
            <a:chOff x="815" y="9060"/>
            <a:chExt cx="17713" cy="691"/>
          </a:xfrm>
        </p:grpSpPr>
        <p:sp>
          <p:nvSpPr>
            <p:cNvPr id="133" name="AutoShape 8"/>
            <p:cNvSpPr/>
            <p:nvPr/>
          </p:nvSpPr>
          <p:spPr>
            <a:xfrm>
              <a:off x="815" y="9076"/>
              <a:ext cx="2232" cy="648"/>
            </a:xfrm>
            <a:prstGeom prst="rect">
              <a:avLst/>
            </a:prstGeom>
            <a:solidFill>
              <a:srgbClr val="0B2D5B">
                <a:alpha val="100000"/>
              </a:srgbClr>
            </a:solidFill>
            <a:ln w="12700">
              <a:solidFill>
                <a:srgbClr val="0B2D5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>
                <a:lnSpc>
                  <a:spcPct val="100000"/>
                </a:lnSpc>
                <a:defRPr/>
              </a:pPr>
              <a:r>
                <a:rPr lang="zh-CN" altLang="en-US" sz="16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解决方案</a:t>
              </a:r>
              <a:endParaRPr lang="zh-CN" altLang="en-US" sz="1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4" name="AutoShape 9"/>
            <p:cNvSpPr/>
            <p:nvPr/>
          </p:nvSpPr>
          <p:spPr>
            <a:xfrm>
              <a:off x="3244" y="9060"/>
              <a:ext cx="15284" cy="6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利用后台线程，不针对提交的数据，而是针对固定的</a:t>
              </a:r>
              <a:r>
                <a:rPr lang="en-US" altLang="zh-CN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CQ</a:t>
              </a:r>
              <a:r>
                <a:rPr lang="zh-CN" altLang="en-US" sz="1650" b="1" i="0" u="none" strike="noStrike">
                  <a:solidFill>
                    <a:srgbClr val="1F1F1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队列进行数据的轮询、写回，在不引入分支发散的前提下解放忙等的线程</a:t>
              </a:r>
              <a:endParaRPr lang="en-US" altLang="zh-CN" sz="1650" b="1" i="0" u="none" strike="noStrike">
                <a:solidFill>
                  <a:srgbClr val="1F1F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4469765" y="167576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Thread0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69765" y="2118360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69765" y="3458210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Thread29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69765" y="3966210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Thread30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69765" y="447484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Thread31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直接连接符 13"/>
          <p:cNvCxnSpPr>
            <a:stCxn id="9" idx="2"/>
            <a:endCxn id="11" idx="0"/>
          </p:cNvCxnSpPr>
          <p:nvPr/>
        </p:nvCxnSpPr>
        <p:spPr>
          <a:xfrm>
            <a:off x="5163185" y="2419350"/>
            <a:ext cx="0" cy="103886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689090" y="167576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Node i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直接箭头连接符 16"/>
          <p:cNvCxnSpPr>
            <a:stCxn id="16" idx="3"/>
            <a:endCxn id="15" idx="1"/>
          </p:cNvCxnSpPr>
          <p:nvPr/>
        </p:nvCxnSpPr>
        <p:spPr>
          <a:xfrm>
            <a:off x="5855970" y="1826260"/>
            <a:ext cx="833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005830" y="1424940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右大括号 18"/>
          <p:cNvSpPr/>
          <p:nvPr/>
        </p:nvSpPr>
        <p:spPr>
          <a:xfrm>
            <a:off x="5940425" y="2137410"/>
            <a:ext cx="490855" cy="26384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623685" y="3237865"/>
            <a:ext cx="998855" cy="4330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忙等</a:t>
            </a:r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848725" y="167957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Thread0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848725" y="2419985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48725" y="4474210"/>
            <a:ext cx="1386205" cy="30099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Thread31</a:t>
            </a:r>
            <a:endParaRPr 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连接符 25"/>
          <p:cNvCxnSpPr>
            <a:stCxn id="22" idx="2"/>
            <a:endCxn id="25" idx="0"/>
          </p:cNvCxnSpPr>
          <p:nvPr/>
        </p:nvCxnSpPr>
        <p:spPr>
          <a:xfrm>
            <a:off x="9542145" y="2720975"/>
            <a:ext cx="0" cy="175323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0434955" y="1537970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0234930" y="2569845"/>
            <a:ext cx="833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0434955" y="2259965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10234930" y="4620260"/>
            <a:ext cx="833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0384790" y="4284980"/>
            <a:ext cx="759460" cy="3130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Poll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7478395" y="2931795"/>
            <a:ext cx="1221105" cy="4254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>
            <a:off x="10234930" y="1825625"/>
            <a:ext cx="83312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同心圆 4"/>
          <p:cNvSpPr/>
          <p:nvPr/>
        </p:nvSpPr>
        <p:spPr>
          <a:xfrm>
            <a:off x="11117580" y="1424940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16005" y="1654810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0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同心圆 6"/>
          <p:cNvSpPr/>
          <p:nvPr/>
        </p:nvSpPr>
        <p:spPr>
          <a:xfrm>
            <a:off x="11100435" y="2219325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89970" y="2423795"/>
            <a:ext cx="542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同心圆 9"/>
          <p:cNvSpPr/>
          <p:nvPr/>
        </p:nvSpPr>
        <p:spPr>
          <a:xfrm>
            <a:off x="11100435" y="4269740"/>
            <a:ext cx="720725" cy="712470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162030" y="4499610"/>
            <a:ext cx="7327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CQ 31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54685" y="1847215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128KB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54685" y="2297430"/>
            <a:ext cx="808355" cy="4502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128KB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4685" y="3455035"/>
            <a:ext cx="808355" cy="450215"/>
          </a:xfrm>
          <a:prstGeom prst="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128KB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7" name="直接箭头连接符 46"/>
          <p:cNvCxnSpPr>
            <a:endCxn id="48" idx="2"/>
          </p:cNvCxnSpPr>
          <p:nvPr/>
        </p:nvCxnSpPr>
        <p:spPr>
          <a:xfrm flipV="1">
            <a:off x="1737360" y="2962910"/>
            <a:ext cx="981075" cy="571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同心圆 47"/>
          <p:cNvSpPr/>
          <p:nvPr/>
        </p:nvSpPr>
        <p:spPr>
          <a:xfrm>
            <a:off x="2718435" y="2419985"/>
            <a:ext cx="1085215" cy="1085215"/>
          </a:xfrm>
          <a:prstGeom prst="don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724025" y="2409825"/>
            <a:ext cx="11055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无阻塞提交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31490" y="2800350"/>
            <a:ext cx="6711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SQ</a:t>
            </a:r>
            <a:endParaRPr lang="zh-CN" altLang="en-US"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43280" y="2811145"/>
            <a:ext cx="496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037965" y="1176655"/>
            <a:ext cx="8890" cy="46101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stCxn id="25" idx="2"/>
          </p:cNvCxnSpPr>
          <p:nvPr/>
        </p:nvCxnSpPr>
        <p:spPr>
          <a:xfrm>
            <a:off x="9542145" y="4775200"/>
            <a:ext cx="10160" cy="88455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7" idx="4"/>
            <a:endCxn id="10" idx="0"/>
          </p:cNvCxnSpPr>
          <p:nvPr/>
        </p:nvCxnSpPr>
        <p:spPr>
          <a:xfrm>
            <a:off x="11461115" y="2931795"/>
            <a:ext cx="0" cy="133794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0" idx="4"/>
          </p:cNvCxnSpPr>
          <p:nvPr/>
        </p:nvCxnSpPr>
        <p:spPr>
          <a:xfrm flipH="1">
            <a:off x="11454130" y="4982210"/>
            <a:ext cx="6985" cy="64579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777105" y="1285240"/>
            <a:ext cx="1004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Warp i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实验结果</a:t>
            </a:r>
            <a:endParaRPr lang="en-US" altLang="zh-CN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12140" y="1604645"/>
            <a:ext cx="5357495" cy="2654300"/>
            <a:chOff x="672" y="2290"/>
            <a:chExt cx="7982" cy="5316"/>
          </a:xfrm>
        </p:grpSpPr>
        <p:sp>
          <p:nvSpPr>
            <p:cNvPr id="10" name="Rounded Rectangle 4"/>
            <p:cNvSpPr/>
            <p:nvPr/>
          </p:nvSpPr>
          <p:spPr>
            <a:xfrm>
              <a:off x="672" y="2290"/>
              <a:ext cx="7982" cy="5316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B4CD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18288" rIns="54864" bIns="18288" rtlCol="0" anchor="ctr"/>
            <a:lstStyle/>
            <a:p>
              <a:pPr algn="ctr">
                <a:defRPr sz="1600" b="0">
                  <a:solidFill>
                    <a:srgbClr val="232323"/>
                  </a:solidFill>
                  <a:latin typeface="微软雅黑" panose="020B0503020204020204" charset="-122"/>
                </a:defRPr>
              </a:pPr>
            </a:p>
          </p:txBody>
        </p:sp>
        <p:graphicFrame>
          <p:nvGraphicFramePr>
            <p:cNvPr id="4" name="图表 3"/>
            <p:cNvGraphicFramePr/>
            <p:nvPr/>
          </p:nvGraphicFramePr>
          <p:xfrm>
            <a:off x="898" y="2393"/>
            <a:ext cx="7756" cy="5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19" name="表格 18"/>
          <p:cNvGraphicFramePr/>
          <p:nvPr/>
        </p:nvGraphicFramePr>
        <p:xfrm>
          <a:off x="426720" y="5844540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Prefix/prefill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BaM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BaM Async</a:t>
                      </a:r>
                      <a:endParaRPr lang="en-US" altLang="zh-CN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TTFT</a:t>
                      </a: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30K/2K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2103.33 ms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1752.18 ms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-16.7 %</a:t>
                      </a:r>
                      <a:endParaRPr lang="en-US" altLang="zh-CN"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1056005" y="4354195"/>
            <a:ext cx="4629785" cy="6337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GranuleKV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系统中，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KV</a:t>
            </a:r>
            <a:r>
              <a:rPr lang="zh-CN" altLang="en-US">
                <a:sym typeface="+mn-ea"/>
              </a:rPr>
              <a:t>部分恢复能够稳定降低物理 </a:t>
            </a:r>
            <a:r>
              <a:rPr lang="en-US" altLang="zh-CN">
                <a:sym typeface="+mn-ea"/>
              </a:rPr>
              <a:t>restore </a:t>
            </a:r>
            <a:r>
              <a:rPr lang="zh-CN" altLang="en-US">
                <a:sym typeface="+mn-ea"/>
              </a:rPr>
              <a:t>时间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426720" y="5375275"/>
            <a:ext cx="8310245" cy="3892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验证问题二：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BaM/GranuleKV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层级预取异步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IO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的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TTFT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对比，异步机制功能可行</a:t>
            </a:r>
            <a:endParaRPr lang="en-US" altLang="zh-CN" sz="16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等线" panose="02010600030101010101" charset="-122"/>
            </a:endParaRPr>
          </a:p>
          <a:p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255" y="1141095"/>
            <a:ext cx="5453380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问题一补充：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GranuleKV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可支持稀疏注意力部分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token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等线" panose="02010600030101010101" charset="-122"/>
              </a:rPr>
              <a:t>选择</a:t>
            </a:r>
            <a:endParaRPr lang="en-US" altLang="zh-CN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等线" panose="02010600030101010101" charset="-122"/>
            </a:endParaRPr>
          </a:p>
          <a:p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提纲</a:t>
            </a:r>
            <a:endParaRPr 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7011" y="1731154"/>
            <a:ext cx="7915708" cy="17995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研究背景</a:t>
            </a:r>
            <a:endParaRPr lang="en-US" sz="1100"/>
          </a:p>
          <a:p>
            <a:pPr marL="228600" indent="-2286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研究现状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54000" indent="-254000" algn="l">
              <a:lnSpc>
                <a:spcPct val="150000"/>
              </a:lnSpc>
              <a:buClr>
                <a:srgbClr val="808080"/>
              </a:buClr>
              <a:buFont typeface="Wingdings" panose="05000000000000000000"/>
              <a:buChar char="l"/>
            </a:pPr>
            <a:r>
              <a:rPr lang="en-US" sz="20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</a:t>
            </a:r>
            <a:r>
              <a:rPr 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Baseline</a:t>
            </a:r>
            <a:r>
              <a:rPr lang="zh-CN" altLang="en-US" sz="18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与初步实现</a:t>
            </a:r>
            <a:endParaRPr lang="en-US" sz="1800" b="0" i="0" u="none" strike="noStrike">
              <a:solidFill>
                <a:srgbClr val="8080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28600" indent="-228600" algn="l">
              <a:lnSpc>
                <a:spcPct val="150000"/>
              </a:lnSpc>
              <a:buClr>
                <a:srgbClr val="000000"/>
              </a:buClr>
              <a:buFont typeface="Wingdings" panose="05000000000000000000"/>
              <a:buChar char="l"/>
            </a:pP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</a:t>
            </a:r>
            <a:r>
              <a:rPr lang="zh-CN" alt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后续</a:t>
            </a:r>
            <a:r>
              <a:rPr 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</a:t>
            </a:r>
            <a:r>
              <a:rPr lang="zh-CN" altLang="en-US" sz="18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规划</a:t>
            </a:r>
            <a:endParaRPr lang="zh-CN" altLang="en-US" sz="18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100000"/>
              </a:lnSpc>
              <a:defRPr sz="36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研究</a:t>
            </a:r>
            <a:r>
              <a:rPr lang="zh-CN" alt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规划</a:t>
            </a:r>
            <a:endParaRPr lang="zh-CN" altLang="en-US" sz="36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26720" y="1235710"/>
            <a:ext cx="3322320" cy="4009390"/>
            <a:chOff x="672" y="2057"/>
            <a:chExt cx="5232" cy="6314"/>
          </a:xfrm>
        </p:grpSpPr>
        <p:grpSp>
          <p:nvGrpSpPr>
            <p:cNvPr id="7" name="组合 6"/>
            <p:cNvGrpSpPr/>
            <p:nvPr/>
          </p:nvGrpSpPr>
          <p:grpSpPr>
            <a:xfrm>
              <a:off x="672" y="2057"/>
              <a:ext cx="5232" cy="6314"/>
              <a:chOff x="790" y="4061"/>
              <a:chExt cx="5232" cy="6314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790" y="4729"/>
                <a:ext cx="5233" cy="564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790" y="4061"/>
                <a:ext cx="5233" cy="637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问题一：现有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</a:rPr>
                  <a:t>SSD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读取机制数据粒度大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8" name="圆角矩形 7"/>
            <p:cNvSpPr/>
            <p:nvPr/>
          </p:nvSpPr>
          <p:spPr>
            <a:xfrm>
              <a:off x="1033" y="3042"/>
              <a:ext cx="4470" cy="108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LMCache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通过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Chunk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数据组织发挥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SSD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读取带宽，数据粒度过大</a:t>
              </a: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80" y="4185"/>
              <a:ext cx="1596" cy="4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解决方案</a:t>
              </a:r>
              <a:endPara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80" y="4552"/>
              <a:ext cx="4570" cy="27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BaM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系统引入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 Cache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，解决小粒度随机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数据读取的带宽问题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BaM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系统做异步解耦，设置轻量化常驻后台轮询进程，减少线程忙等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下沉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submit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操作到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GPU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，对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submit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请求做聚合，减少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submit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操作开销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896" y="7390"/>
              <a:ext cx="4820" cy="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预期：随机小粒度数据读取依然能充分发挥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SSD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的传输</a:t>
              </a:r>
              <a:r>
                <a:rPr 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带宽</a:t>
              </a:r>
              <a:endPara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53255" y="1236345"/>
            <a:ext cx="3322320" cy="4009390"/>
            <a:chOff x="672" y="2057"/>
            <a:chExt cx="5232" cy="6314"/>
          </a:xfrm>
        </p:grpSpPr>
        <p:grpSp>
          <p:nvGrpSpPr>
            <p:cNvPr id="14" name="组合 13"/>
            <p:cNvGrpSpPr/>
            <p:nvPr/>
          </p:nvGrpSpPr>
          <p:grpSpPr>
            <a:xfrm>
              <a:off x="672" y="2057"/>
              <a:ext cx="5232" cy="6314"/>
              <a:chOff x="790" y="4061"/>
              <a:chExt cx="5232" cy="6314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790" y="4729"/>
                <a:ext cx="5233" cy="564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790" y="4061"/>
                <a:ext cx="5233" cy="637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问题二：细粒度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IO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导致的死锁问题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17" name="圆角矩形 16"/>
            <p:cNvSpPr/>
            <p:nvPr/>
          </p:nvSpPr>
          <p:spPr>
            <a:xfrm>
              <a:off x="1033" y="3042"/>
              <a:ext cx="4470" cy="108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线程与数据耦合，细粒度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IO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请求快速打满</a:t>
              </a: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SQ</a:t>
              </a:r>
              <a:r>
                <a:rPr lang="zh-CN" altLang="en-US" sz="160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，造成死锁</a:t>
              </a:r>
              <a:endParaRPr lang="zh-CN" altLang="en-US" sz="16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9" y="4118"/>
              <a:ext cx="1596" cy="4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解决方案</a:t>
              </a:r>
              <a:endParaRPr lang="en-US" altLang="zh-CN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0" y="4604"/>
              <a:ext cx="4570" cy="24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面向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CQ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队列的后台线程轻量化轮询取代原先线程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数据的强耦合映射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单线程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CQ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的轮询模式，解放忙等线程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根据上下文地址映射进行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zero-copy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，减少数据搬运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878" y="7391"/>
              <a:ext cx="4820" cy="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预期：利用后台常驻轮询的模式实现无阻塞的异步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后台常驻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机制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479790" y="1236980"/>
            <a:ext cx="3322320" cy="4009390"/>
            <a:chOff x="672" y="2057"/>
            <a:chExt cx="5232" cy="6314"/>
          </a:xfrm>
        </p:grpSpPr>
        <p:grpSp>
          <p:nvGrpSpPr>
            <p:cNvPr id="22" name="组合 21"/>
            <p:cNvGrpSpPr/>
            <p:nvPr/>
          </p:nvGrpSpPr>
          <p:grpSpPr>
            <a:xfrm>
              <a:off x="672" y="2057"/>
              <a:ext cx="5232" cy="6314"/>
              <a:chOff x="790" y="4061"/>
              <a:chExt cx="5232" cy="631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790" y="4729"/>
                <a:ext cx="5233" cy="564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90" y="4061"/>
                <a:ext cx="5233" cy="637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问题三：缺乏细粒度</a:t>
                </a:r>
                <a:r>
                  <a:rPr lang="en-US" altLang="zh-CN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IO</a:t>
                </a:r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的流水线方案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25" name="圆角矩形 24"/>
            <p:cNvSpPr/>
            <p:nvPr/>
          </p:nvSpPr>
          <p:spPr>
            <a:xfrm>
              <a:off x="1033" y="3042"/>
              <a:ext cx="4470" cy="108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prefill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计算、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decode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层级前向过程细粒度预取，缓解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IO</a:t>
              </a:r>
              <a:r>
                <a:rPr lang="zh-CN" altLang="en-US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与尾延迟</a:t>
              </a:r>
              <a:endPara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79" y="4297"/>
              <a:ext cx="1596" cy="4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解决方案</a:t>
              </a:r>
              <a:endParaRPr lang="zh-CN" altLang="en-US" sz="16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79" y="4664"/>
              <a:ext cx="4570" cy="26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Transformer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层级预取与层级逐出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Sparse Attention 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重要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Token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的细粒度预取</a:t>
              </a:r>
              <a:endPara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charset="0"/>
                <a:buChar char="l"/>
              </a:pP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基于多轮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多用户长上下文对话的调度机制对</a:t>
              </a:r>
              <a:r>
                <a:rPr lang="en-US" altLang="zh-CN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 block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进行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细粒度</a:t>
              </a:r>
              <a:r>
                <a:rPr lang="zh-CN" altLang="en-US" sz="12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预取与写回</a:t>
              </a:r>
              <a:endPara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896" y="7390"/>
              <a:ext cx="4820" cy="7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预期：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KV block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常驻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SSD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时能够获得内存直达式的低开销 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I/O </a:t>
              </a:r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体验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1" name="右箭头 30"/>
          <p:cNvSpPr/>
          <p:nvPr/>
        </p:nvSpPr>
        <p:spPr>
          <a:xfrm>
            <a:off x="3818890" y="3083560"/>
            <a:ext cx="56578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7845425" y="3082925"/>
            <a:ext cx="565785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Text 13"/>
          <p:cNvSpPr/>
          <p:nvPr/>
        </p:nvSpPr>
        <p:spPr>
          <a:xfrm>
            <a:off x="426720" y="5573395"/>
            <a:ext cx="11376660" cy="701040"/>
          </a:xfrm>
          <a:prstGeom prst="rect">
            <a:avLst/>
          </a:prstGeom>
          <a:solidFill>
            <a:schemeClr val="bg1"/>
          </a:solidFill>
          <a:ln w="15240">
            <a:solidFill>
              <a:srgbClr val="BBD7F6"/>
            </a:solidFill>
          </a:ln>
        </p:spPr>
        <p:txBody>
          <a:bodyPr wrap="square" lIns="762" tIns="762" rIns="762" bIns="762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当前的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GPU-Initiated Direct Storage 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细粒度异步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IO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后端作为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IO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链路核心工作之一参与</a:t>
            </a: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ATC’2026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论文投稿</a:t>
            </a:r>
            <a:endParaRPr lang="en-US" altLang="zh-CN" sz="1600" b="1" dirty="0" err="1">
              <a:solidFill>
                <a:srgbClr val="0B2D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  <a:p>
            <a:pPr marL="0" indent="0" algn="ctr">
              <a:buNone/>
            </a:pPr>
            <a:r>
              <a:rPr lang="en-US" altLang="zh-CN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TensorIO: Tensor-Centric I/O Coordination for Out-of-Core Mini-Batch Training</a:t>
            </a:r>
            <a:r>
              <a:rPr lang="zh-CN" altLang="en-US" sz="1600" b="1" dirty="0" err="1">
                <a:solidFill>
                  <a:srgbClr val="0B2D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，第三作者在投</a:t>
            </a:r>
            <a:endParaRPr lang="zh-CN" altLang="en-US" sz="1600" b="1" dirty="0" err="1">
              <a:solidFill>
                <a:srgbClr val="0B2D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202538" y="6357620"/>
            <a:ext cx="2743200" cy="365125"/>
          </a:xfrm>
        </p:spPr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" hasCustomPrompt="1"/>
          </p:nvPr>
        </p:nvSpPr>
        <p:spPr>
          <a:xfrm>
            <a:off x="838200" y="1935126"/>
            <a:ext cx="10515600" cy="149387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92000"/>
              </a:lnSpc>
              <a:defRPr sz="8000" b="0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80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谢谢！</a:t>
            </a:r>
            <a:endParaRPr lang="en-US" sz="80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30639" y="3928731"/>
            <a:ext cx="2321585" cy="176500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28902" b="29349"/>
          <a:stretch>
            <a:fillRect/>
          </a:stretch>
        </p:blipFill>
        <p:spPr>
          <a:xfrm>
            <a:off x="7039778" y="4202520"/>
            <a:ext cx="2916074" cy="121742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46304"/>
            <a:ext cx="113385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内容组织与主线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097280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先讲背景和瓶颈，再讲现有方法，接着给出 GranuleKV 的切入点。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841248"/>
            <a:ext cx="114757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2743200" cy="3566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4320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1. 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837944"/>
            <a:ext cx="2596896" cy="30723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Microsoft YaHei"/>
              </a:rPr>
              <a:t>• 长上下文让 KV Cache 快速膨胀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HBM 容量不够，SSD-backed 变成必要选项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这一层回答的是“为什么要做 SSD-backed KVCache”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17320"/>
            <a:ext cx="2743200" cy="3566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417320"/>
            <a:ext cx="2743200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2. 研究现状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37944"/>
            <a:ext cx="2596896" cy="30723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Microsoft YaHei"/>
              </a:rPr>
              <a:t>• Sparse Attention：决定访问哪些 KV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Layer-wise Prefetch：决定何时恢复 KV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SSD-backed 系统：决定 KV 放在哪一层存储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2743200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3. 关键缺口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837944"/>
            <a:ext cx="2596896" cy="30723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Microsoft YaHei"/>
              </a:rPr>
              <a:t>• CPU staging 仍然在中间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粒度不统一：token / block / layer / window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异步提交、轮询、完成和回收没有统一底座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417320"/>
            <a:ext cx="2606040" cy="35661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2606040" cy="3291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4. GranuleKV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1837944"/>
            <a:ext cx="2459736" cy="30723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Microsoft YaHei"/>
              </a:rPr>
              <a:t>• GPU-initiated direct I/O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策略无关</a:t>
            </a:r>
          </a:p>
          <a:p>
            <a:r>
              <a:rPr sz="1200">
                <a:solidFill>
                  <a:srgbClr val="0F172A"/>
                </a:solidFill>
                <a:latin typeface="Microsoft YaHei"/>
              </a:rPr>
              <a:t>• 统一承接稀疏、预取、逐出与多请求调度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08960" y="2788920"/>
            <a:ext cx="182880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035040" y="2788920"/>
            <a:ext cx="182880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961120" y="2788920"/>
            <a:ext cx="182880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11064240" cy="4754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YaHei"/>
              </a:rPr>
              <a:t>这页后面的每一章都只是在展开这条主线：GranuleKV 不是替代上层策略，而是把这些策略真正落到一条可并发、可异步、可复用的 KV I/O 链路上。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2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3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4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5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6.xml><?xml version="1.0" encoding="utf-8"?>
<p:tagLst xmlns:p="http://schemas.openxmlformats.org/presentationml/2006/main">
  <p:tag name="KSO_WM_DIAGRAM_VIRTUALLY_FRAME" val="{&quot;height&quot;:97.3,&quot;left&quot;:241.1,&quot;top&quot;:153.05,&quot;width&quot;:703.8}"/>
</p:tagLst>
</file>

<file path=ppt/tags/tag7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8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9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0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1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2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3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4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5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6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7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8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19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20.xml><?xml version="1.0" encoding="utf-8"?>
<p:tagLst xmlns:p="http://schemas.openxmlformats.org/presentationml/2006/main">
  <p:tag name="KSO_WM_DIAGRAM_VIRTUALLY_FRAME" val="{&quot;height&quot;:300.0403149606299,&quot;left&quot;:44.230472440944865,&quot;top&quot;:147.41700787401572,&quot;width&quot;:877.2110236220473}"/>
</p:tagLst>
</file>

<file path=ppt/tags/tag21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2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3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4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5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6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7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8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29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0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1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2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3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4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5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6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7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8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39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0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1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2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3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4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45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46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47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48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49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0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1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2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3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4.xml><?xml version="1.0" encoding="utf-8"?>
<p:tagLst xmlns:p="http://schemas.openxmlformats.org/presentationml/2006/main">
  <p:tag name="KSO_WM_DIAGRAM_VIRTUALLY_FRAME" val="{&quot;height&quot;:225.75,&quot;left&quot;:68.3,&quot;top&quot;:100,&quot;width&quot;:623.35}"/>
</p:tagLst>
</file>

<file path=ppt/tags/tag55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56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57.xml><?xml version="1.0" encoding="utf-8"?>
<p:tagLst xmlns:p="http://schemas.openxmlformats.org/presentationml/2006/main">
  <p:tag name="KSO_WM_DIAGRAM_VIRTUALLY_FRAME" val="{&quot;height&quot;:334.6,&quot;left&quot;:29.680472440944868,&quot;top&quot;:151.65,&quot;width&quot;:882.6195275590551}"/>
</p:tagLst>
</file>

<file path=ppt/tags/tag58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59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0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1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2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3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4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5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6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7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8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69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0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1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2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3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4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5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6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7.xml><?xml version="1.0" encoding="utf-8"?>
<p:tagLst xmlns:p="http://schemas.openxmlformats.org/presentationml/2006/main">
  <p:tag name="KSO_WM_DIAGRAM_VIRTUALLY_FRAME" val="{&quot;height&quot;:225.75,&quot;left&quot;:412.35,&quot;top&quot;:100,&quot;width&quot;:279.3}"/>
</p:tagLst>
</file>

<file path=ppt/tags/tag78.xml><?xml version="1.0" encoding="utf-8"?>
<p:tagLst xmlns:p="http://schemas.openxmlformats.org/presentationml/2006/main">
  <p:tag name="resource_record_key" val="{&quot;10&quot;:[20093111],&quot;8&quot;:[20475446,4610354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6216</Words>
  <Application>WPS 演示</Application>
  <PresentationFormat/>
  <Paragraphs>768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Arial</vt:lpstr>
      <vt:lpstr>宋体</vt:lpstr>
      <vt:lpstr>Wingdings</vt:lpstr>
      <vt:lpstr>Arial</vt:lpstr>
      <vt:lpstr>等线</vt:lpstr>
      <vt:lpstr>微软雅黑</vt:lpstr>
      <vt:lpstr>Calibri</vt:lpstr>
      <vt:lpstr>Noto Sans SC</vt:lpstr>
      <vt:lpstr>StHeiti</vt:lpstr>
      <vt:lpstr>FFont-Family</vt:lpstr>
      <vt:lpstr>黑体</vt:lpstr>
      <vt:lpstr>Times New Roman</vt:lpstr>
      <vt:lpstr>仿宋</vt:lpstr>
      <vt:lpstr>Wingdings</vt:lpstr>
      <vt:lpstr>Times New Roman</vt:lpstr>
      <vt:lpstr>微软雅黑</vt:lpstr>
      <vt:lpstr>Arial Unicode MS</vt:lpstr>
      <vt:lpstr>Wingdings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夏寒柯</cp:lastModifiedBy>
  <cp:revision>199</cp:revision>
  <dcterms:created xsi:type="dcterms:W3CDTF">2026-06-04T13:09:00Z</dcterms:created>
  <dcterms:modified xsi:type="dcterms:W3CDTF">2026-08-20T19:34:16Z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91743C0F133645DB92C78BF35D36B1EB_13</vt:lpwstr>
  </property>
</Properties>
</file>